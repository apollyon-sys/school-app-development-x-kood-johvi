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
  </p:notesMasterIdLst>
  <p:sldIdLst>
    <p:sldId id="270" r:id="rId2"/>
    <p:sldId id="259" r:id="rId3"/>
    <p:sldId id="261" r:id="rId4"/>
    <p:sldId id="271" r:id="rId5"/>
    <p:sldId id="272" r:id="rId6"/>
    <p:sldId id="273" r:id="rId7"/>
    <p:sldId id="274" r:id="rId8"/>
    <p:sldId id="275"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EFF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4925" autoAdjust="0"/>
  </p:normalViewPr>
  <p:slideViewPr>
    <p:cSldViewPr snapToGrid="0">
      <p:cViewPr varScale="1">
        <p:scale>
          <a:sx n="136" d="100"/>
          <a:sy n="136" d="100"/>
        </p:scale>
        <p:origin x="121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DDA9AB-A7FB-43A3-880D-3EC37547B100}" type="datetimeFigureOut">
              <a:rPr lang="ru-RU" smtClean="0"/>
              <a:t>09.01.2025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0A8F1E-DF29-483E-8BB7-9174A98260AB}" type="slidenum">
              <a:rPr lang="ru-RU" smtClean="0"/>
              <a:t>‹#›</a:t>
            </a:fld>
            <a:endParaRPr lang="ru-RU"/>
          </a:p>
        </p:txBody>
      </p:sp>
    </p:spTree>
    <p:extLst>
      <p:ext uri="{BB962C8B-B14F-4D97-AF65-F5344CB8AC3E}">
        <p14:creationId xmlns:p14="http://schemas.microsoft.com/office/powerpoint/2010/main" val="1770108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2292c49e72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2292c49e72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"Welcome, everyone, to our session on Databases and SQL basics for beginners! My name is [Your Name], and today we’ll dive into the fundamental concepts of databases and how SQL is used to manage them.“</a:t>
            </a:r>
          </a:p>
          <a:p>
            <a:pPr marL="0" lvl="0" indent="0" algn="l" rtl="0">
              <a:spcBef>
                <a:spcPts val="0"/>
              </a:spcBef>
              <a:spcAft>
                <a:spcPts val="0"/>
              </a:spcAft>
              <a:buNone/>
            </a:pPr>
            <a:r>
              <a:rPr lang="en-US" dirty="0"/>
              <a:t>"This is a short, theory-focused session where we’ll cover the basics of databases, introduce SQL, and walk through some commonly used SQL commands."</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2292c49e72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2292c49e72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2800"/>
              <a:buFont typeface="Helvetica Neue"/>
              <a:buNone/>
            </a:pPr>
            <a:endParaRPr sz="100">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2292c49e7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2292c49e72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"A database is essentially an organized collection of data. It’s structured in a way that makes storing, retrieving, and updating information efficient.“</a:t>
            </a:r>
          </a:p>
          <a:p>
            <a:pPr marL="0" lvl="0" indent="0" algn="l" rtl="0">
              <a:lnSpc>
                <a:spcPct val="100000"/>
              </a:lnSpc>
              <a:spcBef>
                <a:spcPts val="0"/>
              </a:spcBef>
              <a:spcAft>
                <a:spcPts val="0"/>
              </a:spcAft>
              <a:buSzPts val="1100"/>
              <a:buNone/>
            </a:pPr>
            <a:r>
              <a:rPr lang="en-US" dirty="0"/>
              <a:t>"Think of a database as a digital version of a filing cabinet where you can keep and access data, whether it’s customer details, product lists, or financial transactions.“</a:t>
            </a:r>
          </a:p>
          <a:p>
            <a:pPr marL="0" lvl="0" indent="0" algn="l" rtl="0">
              <a:lnSpc>
                <a:spcPct val="100000"/>
              </a:lnSpc>
              <a:spcBef>
                <a:spcPts val="0"/>
              </a:spcBef>
              <a:spcAft>
                <a:spcPts val="0"/>
              </a:spcAft>
              <a:buSzPts val="1100"/>
              <a:buNone/>
            </a:pPr>
            <a:r>
              <a:rPr lang="en-US" dirty="0"/>
              <a:t>"Databases are at the core of almost every software application, from e-commerce sites to banking systems."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A91A57CE-54B5-3F31-6D9B-8A9500EA386C}"/>
            </a:ext>
          </a:extLst>
        </p:cNvPr>
        <p:cNvGrpSpPr/>
        <p:nvPr/>
      </p:nvGrpSpPr>
      <p:grpSpPr>
        <a:xfrm>
          <a:off x="0" y="0"/>
          <a:ext cx="0" cy="0"/>
          <a:chOff x="0" y="0"/>
          <a:chExt cx="0" cy="0"/>
        </a:xfrm>
      </p:grpSpPr>
      <p:sp>
        <p:nvSpPr>
          <p:cNvPr id="108" name="Google Shape;108;g32292c49e72_0_12:notes">
            <a:extLst>
              <a:ext uri="{FF2B5EF4-FFF2-40B4-BE49-F238E27FC236}">
                <a16:creationId xmlns:a16="http://schemas.microsoft.com/office/drawing/2014/main" id="{4F95ED01-2596-0CC9-4F84-268C1356AD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2292c49e72_0_12:notes">
            <a:extLst>
              <a:ext uri="{FF2B5EF4-FFF2-40B4-BE49-F238E27FC236}">
                <a16:creationId xmlns:a16="http://schemas.microsoft.com/office/drawing/2014/main" id="{DB0E4784-6D7C-D0CE-55E1-F9D0D8877B7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"There are several types of databases, each designed for specific needs. The most common are relational databases, which store data in structured tables and are ideal for many business applications.“</a:t>
            </a:r>
          </a:p>
          <a:p>
            <a:pPr marL="0" lvl="0" indent="0" algn="l" rtl="0">
              <a:lnSpc>
                <a:spcPct val="100000"/>
              </a:lnSpc>
              <a:spcBef>
                <a:spcPts val="0"/>
              </a:spcBef>
              <a:spcAft>
                <a:spcPts val="0"/>
              </a:spcAft>
              <a:buSzPts val="1100"/>
              <a:buNone/>
            </a:pPr>
            <a:r>
              <a:rPr lang="en-US" dirty="0"/>
              <a:t>"NoSQL databases, on the other hand, are more flexible and work well with unstructured data like social media posts or logs.“</a:t>
            </a:r>
          </a:p>
          <a:p>
            <a:pPr marL="0" lvl="0" indent="0" algn="l" rtl="0">
              <a:lnSpc>
                <a:spcPct val="100000"/>
              </a:lnSpc>
              <a:spcBef>
                <a:spcPts val="0"/>
              </a:spcBef>
              <a:spcAft>
                <a:spcPts val="0"/>
              </a:spcAft>
              <a:buSzPts val="1100"/>
              <a:buNone/>
            </a:pPr>
            <a:r>
              <a:rPr lang="en-US" dirty="0"/>
              <a:t>"In-memory databases are used for high-speed, temporary data storage, often in real-time applications."</a:t>
            </a:r>
            <a:endParaRPr dirty="0"/>
          </a:p>
        </p:txBody>
      </p:sp>
    </p:spTree>
    <p:extLst>
      <p:ext uri="{BB962C8B-B14F-4D97-AF65-F5344CB8AC3E}">
        <p14:creationId xmlns:p14="http://schemas.microsoft.com/office/powerpoint/2010/main" val="2170013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77427D74-0E61-4964-995D-4814F12FAF0C}"/>
            </a:ext>
          </a:extLst>
        </p:cNvPr>
        <p:cNvGrpSpPr/>
        <p:nvPr/>
      </p:nvGrpSpPr>
      <p:grpSpPr>
        <a:xfrm>
          <a:off x="0" y="0"/>
          <a:ext cx="0" cy="0"/>
          <a:chOff x="0" y="0"/>
          <a:chExt cx="0" cy="0"/>
        </a:xfrm>
      </p:grpSpPr>
      <p:sp>
        <p:nvSpPr>
          <p:cNvPr id="108" name="Google Shape;108;g32292c49e72_0_12:notes">
            <a:extLst>
              <a:ext uri="{FF2B5EF4-FFF2-40B4-BE49-F238E27FC236}">
                <a16:creationId xmlns:a16="http://schemas.microsoft.com/office/drawing/2014/main" id="{B86A901A-AEDF-24D2-6B04-A7D290D9E2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2292c49e72_0_12:notes">
            <a:extLst>
              <a:ext uri="{FF2B5EF4-FFF2-40B4-BE49-F238E27FC236}">
                <a16:creationId xmlns:a16="http://schemas.microsoft.com/office/drawing/2014/main" id="{7101DDB7-583B-3CA2-4A0A-52E2B61D6A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"SQL, or Structured Query Language, is the standard way to interact with relational databases.“</a:t>
            </a:r>
          </a:p>
          <a:p>
            <a:pPr marL="0" lvl="0" indent="0" algn="l" rtl="0">
              <a:lnSpc>
                <a:spcPct val="100000"/>
              </a:lnSpc>
              <a:spcBef>
                <a:spcPts val="0"/>
              </a:spcBef>
              <a:spcAft>
                <a:spcPts val="0"/>
              </a:spcAft>
              <a:buSzPts val="1100"/>
              <a:buNone/>
            </a:pPr>
            <a:r>
              <a:rPr lang="en-US" dirty="0"/>
              <a:t>"It allows you to perform operations like creating new tables, reading data, updating existing information, and even deleting data you no longer need. These operations are commonly known as CRUD—Create, Read, Update, and Delete.“</a:t>
            </a:r>
          </a:p>
          <a:p>
            <a:pPr marL="0" lvl="0" indent="0" algn="l" rtl="0">
              <a:lnSpc>
                <a:spcPct val="100000"/>
              </a:lnSpc>
              <a:spcBef>
                <a:spcPts val="0"/>
              </a:spcBef>
              <a:spcAft>
                <a:spcPts val="0"/>
              </a:spcAft>
              <a:buSzPts val="1100"/>
              <a:buNone/>
            </a:pPr>
            <a:r>
              <a:rPr lang="en-US" dirty="0"/>
              <a:t>"SQL is powerful because it gives you precise control over your data and allows you to extract exactly what you need."</a:t>
            </a:r>
            <a:endParaRPr dirty="0"/>
          </a:p>
        </p:txBody>
      </p:sp>
    </p:spTree>
    <p:extLst>
      <p:ext uri="{BB962C8B-B14F-4D97-AF65-F5344CB8AC3E}">
        <p14:creationId xmlns:p14="http://schemas.microsoft.com/office/powerpoint/2010/main" val="4013176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89E9AE4E-6187-0066-DB26-8C4703849722}"/>
            </a:ext>
          </a:extLst>
        </p:cNvPr>
        <p:cNvGrpSpPr/>
        <p:nvPr/>
      </p:nvGrpSpPr>
      <p:grpSpPr>
        <a:xfrm>
          <a:off x="0" y="0"/>
          <a:ext cx="0" cy="0"/>
          <a:chOff x="0" y="0"/>
          <a:chExt cx="0" cy="0"/>
        </a:xfrm>
      </p:grpSpPr>
      <p:sp>
        <p:nvSpPr>
          <p:cNvPr id="108" name="Google Shape;108;g32292c49e72_0_12:notes">
            <a:extLst>
              <a:ext uri="{FF2B5EF4-FFF2-40B4-BE49-F238E27FC236}">
                <a16:creationId xmlns:a16="http://schemas.microsoft.com/office/drawing/2014/main" id="{F34F7450-054C-E79E-9C59-ECD295EF90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2292c49e72_0_12:notes">
            <a:extLst>
              <a:ext uri="{FF2B5EF4-FFF2-40B4-BE49-F238E27FC236}">
                <a16:creationId xmlns:a16="http://schemas.microsoft.com/office/drawing/2014/main" id="{89B90BBE-E54E-C0C8-1BD5-FB4F1920978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a:buFont typeface="Arial" panose="020B0604020202020204" pitchFamily="34" charset="0"/>
              <a:buChar char="•"/>
            </a:pPr>
            <a:r>
              <a:rPr lang="en-US" dirty="0"/>
              <a:t>"These are some of the most commonly used SQL commands:</a:t>
            </a:r>
          </a:p>
          <a:p>
            <a:pPr>
              <a:buFont typeface="Arial" panose="020B0604020202020204" pitchFamily="34" charset="0"/>
              <a:buChar char="•"/>
            </a:pPr>
            <a:r>
              <a:rPr lang="en-US" dirty="0"/>
              <a:t>SELECT retrieves data from a table. For example, you can fetch all customers or filter specific ones based on criteria.</a:t>
            </a:r>
          </a:p>
          <a:p>
            <a:pPr>
              <a:buFont typeface="Arial" panose="020B0604020202020204" pitchFamily="34" charset="0"/>
              <a:buChar char="•"/>
            </a:pPr>
            <a:r>
              <a:rPr lang="en-US" dirty="0"/>
              <a:t>INSERT is used to add new records to a table.</a:t>
            </a:r>
          </a:p>
          <a:p>
            <a:pPr>
              <a:buFont typeface="Arial" panose="020B0604020202020204" pitchFamily="34" charset="0"/>
              <a:buChar char="•"/>
            </a:pPr>
            <a:r>
              <a:rPr lang="en-US" dirty="0"/>
              <a:t>UPDATE lets you modify existing data, like correcting an email address.</a:t>
            </a:r>
          </a:p>
          <a:p>
            <a:pPr>
              <a:buFont typeface="Arial" panose="020B0604020202020204" pitchFamily="34" charset="0"/>
              <a:buChar char="•"/>
            </a:pPr>
            <a:r>
              <a:rPr lang="en-US" dirty="0"/>
              <a:t>DELETE removes unwanted records from the table."</a:t>
            </a:r>
          </a:p>
          <a:p>
            <a:r>
              <a:rPr lang="en-US" dirty="0"/>
              <a:t>"These commands make it possible to manage data efficiently, and they form the foundation of database operations."</a:t>
            </a:r>
            <a:endParaRPr dirty="0"/>
          </a:p>
        </p:txBody>
      </p:sp>
    </p:spTree>
    <p:extLst>
      <p:ext uri="{BB962C8B-B14F-4D97-AF65-F5344CB8AC3E}">
        <p14:creationId xmlns:p14="http://schemas.microsoft.com/office/powerpoint/2010/main" val="9909668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04419203-1390-4ED3-B8EA-00C8FB3C464E}"/>
            </a:ext>
          </a:extLst>
        </p:cNvPr>
        <p:cNvGrpSpPr/>
        <p:nvPr/>
      </p:nvGrpSpPr>
      <p:grpSpPr>
        <a:xfrm>
          <a:off x="0" y="0"/>
          <a:ext cx="0" cy="0"/>
          <a:chOff x="0" y="0"/>
          <a:chExt cx="0" cy="0"/>
        </a:xfrm>
      </p:grpSpPr>
      <p:sp>
        <p:nvSpPr>
          <p:cNvPr id="108" name="Google Shape;108;g32292c49e72_0_12:notes">
            <a:extLst>
              <a:ext uri="{FF2B5EF4-FFF2-40B4-BE49-F238E27FC236}">
                <a16:creationId xmlns:a16="http://schemas.microsoft.com/office/drawing/2014/main" id="{57FDD7A3-A71B-4201-1C8B-83C54BB207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2292c49e72_0_12:notes">
            <a:extLst>
              <a:ext uri="{FF2B5EF4-FFF2-40B4-BE49-F238E27FC236}">
                <a16:creationId xmlns:a16="http://schemas.microsoft.com/office/drawing/2014/main" id="{91BC1DBF-D7EA-4F5F-17C8-FB85484FDD8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dirty="0"/>
              <a:t>"To summarize, databases are used to store, organize, and retrieve data, and SQL is the key language to manage relational databases.“</a:t>
            </a:r>
          </a:p>
          <a:p>
            <a:pPr marL="0" lvl="0" indent="0" algn="l" rtl="0">
              <a:lnSpc>
                <a:spcPct val="100000"/>
              </a:lnSpc>
              <a:spcBef>
                <a:spcPts val="0"/>
              </a:spcBef>
              <a:spcAft>
                <a:spcPts val="0"/>
              </a:spcAft>
              <a:buSzPts val="1100"/>
              <a:buNone/>
            </a:pPr>
            <a:r>
              <a:rPr lang="en-US" dirty="0"/>
              <a:t>"For next steps, I recommend learning about database design principles, such as normalization and indexing, to better structure your data.“</a:t>
            </a:r>
          </a:p>
          <a:p>
            <a:pPr marL="0" lvl="0" indent="0" algn="l" rtl="0">
              <a:lnSpc>
                <a:spcPct val="100000"/>
              </a:lnSpc>
              <a:spcBef>
                <a:spcPts val="0"/>
              </a:spcBef>
              <a:spcAft>
                <a:spcPts val="0"/>
              </a:spcAft>
              <a:buSzPts val="1100"/>
              <a:buNone/>
            </a:pPr>
            <a:r>
              <a:rPr lang="en-US" dirty="0"/>
              <a:t>"You can also practice SQL queries on free online platforms like </a:t>
            </a:r>
            <a:r>
              <a:rPr lang="en-US" dirty="0" err="1"/>
              <a:t>SQLZoo</a:t>
            </a:r>
            <a:r>
              <a:rPr lang="en-US" dirty="0"/>
              <a:t> or W3Schools to strengthen your skills."</a:t>
            </a:r>
            <a:endParaRPr dirty="0"/>
          </a:p>
        </p:txBody>
      </p:sp>
    </p:spTree>
    <p:extLst>
      <p:ext uri="{BB962C8B-B14F-4D97-AF65-F5344CB8AC3E}">
        <p14:creationId xmlns:p14="http://schemas.microsoft.com/office/powerpoint/2010/main" val="2855567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A1F4553-B3AF-20CD-54DD-CF83F5B811A5}"/>
            </a:ext>
          </a:extLst>
        </p:cNvPr>
        <p:cNvGrpSpPr/>
        <p:nvPr/>
      </p:nvGrpSpPr>
      <p:grpSpPr>
        <a:xfrm>
          <a:off x="0" y="0"/>
          <a:ext cx="0" cy="0"/>
          <a:chOff x="0" y="0"/>
          <a:chExt cx="0" cy="0"/>
        </a:xfrm>
      </p:grpSpPr>
      <p:sp>
        <p:nvSpPr>
          <p:cNvPr id="93" name="Google Shape;93;g32292c49e72_0_84:notes">
            <a:extLst>
              <a:ext uri="{FF2B5EF4-FFF2-40B4-BE49-F238E27FC236}">
                <a16:creationId xmlns:a16="http://schemas.microsoft.com/office/drawing/2014/main" id="{2BA5562A-06DF-EE73-6FD3-68F433C154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2292c49e72_0_84:notes">
            <a:extLst>
              <a:ext uri="{FF2B5EF4-FFF2-40B4-BE49-F238E27FC236}">
                <a16:creationId xmlns:a16="http://schemas.microsoft.com/office/drawing/2014/main" id="{C5A09E77-B1D2-DD05-DFAF-067DCFE736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80000"/>
              </a:lnSpc>
              <a:spcBef>
                <a:spcPts val="0"/>
              </a:spcBef>
              <a:spcAft>
                <a:spcPts val="0"/>
              </a:spcAft>
              <a:buClr>
                <a:schemeClr val="dk1"/>
              </a:buClr>
              <a:buSzPts val="2800"/>
              <a:buFont typeface="Helvetica Neue"/>
              <a:buNone/>
            </a:pPr>
            <a:r>
              <a:rPr lang="en-US" sz="1050" dirty="0"/>
              <a:t>"This concludes our session. Do you have any questions about databases, SQL, or anything we discussed today?“</a:t>
            </a:r>
          </a:p>
          <a:p>
            <a:pPr marL="0" lvl="0" indent="0" algn="l" rtl="0">
              <a:lnSpc>
                <a:spcPct val="80000"/>
              </a:lnSpc>
              <a:spcBef>
                <a:spcPts val="0"/>
              </a:spcBef>
              <a:spcAft>
                <a:spcPts val="0"/>
              </a:spcAft>
              <a:buClr>
                <a:schemeClr val="dk1"/>
              </a:buClr>
              <a:buSzPts val="2800"/>
              <a:buFont typeface="Helvetica Neue"/>
              <a:buNone/>
            </a:pPr>
            <a:r>
              <a:rPr lang="en-US" sz="1050" dirty="0"/>
              <a:t>"Feel free to ask, and I’ll do my best to clarify or provide additional resources!"</a:t>
            </a:r>
            <a:endParaRPr sz="100" dirty="0">
              <a:solidFill>
                <a:schemeClr val="dk1"/>
              </a:solidFill>
            </a:endParaRPr>
          </a:p>
        </p:txBody>
      </p:sp>
    </p:spTree>
    <p:extLst>
      <p:ext uri="{BB962C8B-B14F-4D97-AF65-F5344CB8AC3E}">
        <p14:creationId xmlns:p14="http://schemas.microsoft.com/office/powerpoint/2010/main" val="6731253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78DBFFF-3170-111D-B51B-E87D60D4B07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4B387D5E-29BC-C668-5AE0-8ED93051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2AE4A86-6AAD-725F-C2DE-EDF996384B26}"/>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10D10A2D-A9D9-0A5C-E638-59DB386C56B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F1F24E2-32FC-22E2-D5CD-BC7D3F02BE61}"/>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1729135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23C95B-F66A-353E-32B1-74BFEB4737CD}"/>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D413802-9101-85FA-5298-054E36C55DD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99DD5E4-56BD-AF90-400A-74BFA243A92F}"/>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D2AECF1F-4E34-04D0-CC31-1023216895B0}"/>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82171C9-0931-A1A8-C586-3D884965B2D1}"/>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174717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D7308C9-17FD-5B91-D80E-FAA7AAE93CB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6CBB491-6C63-AB37-2737-55D61B8D10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39658C8-8805-E8B4-B999-704DFABCC955}"/>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C885CFE6-5889-AB59-5705-D37E7CFEAD9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6937F37-1827-CCF2-1DD9-D4AF3C6E53DA}"/>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2753660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43B8F5-DF21-8EFD-AA0F-CA45B30B1CB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FA6A1171-FAC7-D3F6-0954-D7CD013C9394}"/>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344A5236-CAC2-305B-E8FF-E65ECA44B357}"/>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EE163DBB-1F6D-8001-7E9F-7F22FF301EC6}"/>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6" name="Нижний колонтитул 5">
            <a:extLst>
              <a:ext uri="{FF2B5EF4-FFF2-40B4-BE49-F238E27FC236}">
                <a16:creationId xmlns:a16="http://schemas.microsoft.com/office/drawing/2014/main" id="{8CD7B89E-57E8-93AC-9218-B58523616C92}"/>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87A6018-03D5-2F14-581C-86A0264D195B}"/>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360025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6DE6568-2B9B-ADDA-9CB7-8280493E70A2}"/>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7D8D14B6-65B8-D76A-6121-8177FD3A1F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23FD05D-A210-DD22-5E2A-B2C03DBAFB84}"/>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392C48E4-37CE-1180-F75F-DAB414ADDB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C9C1962E-51A3-A03B-5D99-94200A5D5B19}"/>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3D1D42EB-33AD-9755-E5C1-0C51F7EBD7CB}"/>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8" name="Нижний колонтитул 7">
            <a:extLst>
              <a:ext uri="{FF2B5EF4-FFF2-40B4-BE49-F238E27FC236}">
                <a16:creationId xmlns:a16="http://schemas.microsoft.com/office/drawing/2014/main" id="{36CFAC1B-F9FF-6AFC-E33A-F8538AFEEAF2}"/>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E3E17E0D-6F79-08A7-2E1B-6CF98317BE88}"/>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2845843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25AC4BD-4D3D-1707-B2F3-ADEA798167BC}"/>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6AFC18E-793E-8F5B-2B14-24E45A91848B}"/>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4" name="Нижний колонтитул 3">
            <a:extLst>
              <a:ext uri="{FF2B5EF4-FFF2-40B4-BE49-F238E27FC236}">
                <a16:creationId xmlns:a16="http://schemas.microsoft.com/office/drawing/2014/main" id="{AAA59C4F-2903-2DDA-CF1E-6686AD55140B}"/>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B7B9BCF-AEEC-DE50-B466-3B8E6BFB6D28}"/>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3209714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0311FF7-E089-DE09-69FF-9B88DB190BAB}"/>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3" name="Нижний колонтитул 2">
            <a:extLst>
              <a:ext uri="{FF2B5EF4-FFF2-40B4-BE49-F238E27FC236}">
                <a16:creationId xmlns:a16="http://schemas.microsoft.com/office/drawing/2014/main" id="{EBEEA769-C0A6-7735-84DD-86F7E4060DB8}"/>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B058BE41-51EB-AD67-244F-C45F48F05F8D}"/>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3985776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7A51CB-0250-BB18-976D-B1BE76F625B8}"/>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BD68F26C-99D5-5652-BE67-01B3EDB84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C1AA3A1-6504-72BC-F316-C7170D92B2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710C35D3-F34D-49D7-0239-177A4189E08E}"/>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6" name="Нижний колонтитул 5">
            <a:extLst>
              <a:ext uri="{FF2B5EF4-FFF2-40B4-BE49-F238E27FC236}">
                <a16:creationId xmlns:a16="http://schemas.microsoft.com/office/drawing/2014/main" id="{19A94B7C-087D-6702-03C5-11600F934F9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10354ED8-B6A2-4A96-42C0-40A913E686C5}"/>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1057648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85D152-23D1-A18B-1347-C3599965565F}"/>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F0A0516-7A5A-358E-B639-E09053CFFE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DDD8561-D8BB-622E-905F-1A4DB9B6A3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FCD38404-3481-BDE7-1765-61BDEF5AC4B0}"/>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6" name="Нижний колонтитул 5">
            <a:extLst>
              <a:ext uri="{FF2B5EF4-FFF2-40B4-BE49-F238E27FC236}">
                <a16:creationId xmlns:a16="http://schemas.microsoft.com/office/drawing/2014/main" id="{A22065B1-AA10-9731-C6AD-41F7FBF48D83}"/>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4E50D0C-B021-8DB3-547B-899B4D87860E}"/>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3403209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DC72FCE-16FF-158B-8086-336D3F7F622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70E81D60-80AC-D350-7C41-88EDF2D7C9E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3B107E5-D81E-091D-0A08-D29B08EAA2AF}"/>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D56FB6D9-4126-ACA3-8669-4A580B0794F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31FBF147-E377-C3C4-B6D1-FCE23003D260}"/>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259566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B0059C9E-B66E-0AAE-F02A-43D6C903FDD4}"/>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E81A34D6-C9AA-4B51-6E6F-D4309C3A5273}"/>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936E5008-4793-3138-92E8-6AC8F7566A26}"/>
              </a:ext>
            </a:extLst>
          </p:cNvPr>
          <p:cNvSpPr>
            <a:spLocks noGrp="1"/>
          </p:cNvSpPr>
          <p:nvPr>
            <p:ph type="dt" sz="half" idx="10"/>
          </p:nvPr>
        </p:nvSpPr>
        <p:spPr/>
        <p:txBody>
          <a:body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8CB9EFC0-1965-CE98-27D5-114FE842932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CC2479D-8942-6712-54AB-7F9D3684D9F8}"/>
              </a:ext>
            </a:extLst>
          </p:cNvPr>
          <p:cNvSpPr>
            <a:spLocks noGrp="1"/>
          </p:cNvSpPr>
          <p:nvPr>
            <p:ph type="sldNum" sz="quarter" idx="12"/>
          </p:nvPr>
        </p:nvSpPr>
        <p:spPr/>
        <p:txBody>
          <a:bodyPr/>
          <a:lstStyle/>
          <a:p>
            <a:fld id="{FFD448E2-48E2-4069-8CFA-871F78B0288F}" type="slidenum">
              <a:rPr lang="ru-RU" smtClean="0"/>
              <a:t>‹#›</a:t>
            </a:fld>
            <a:endParaRPr lang="ru-RU"/>
          </a:p>
        </p:txBody>
      </p:sp>
    </p:spTree>
    <p:extLst>
      <p:ext uri="{BB962C8B-B14F-4D97-AF65-F5344CB8AC3E}">
        <p14:creationId xmlns:p14="http://schemas.microsoft.com/office/powerpoint/2010/main" val="2844064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Kohandatud küljendus 1 1">
  <p:cSld name="Kohandatud küljendus 1 1">
    <p:bg>
      <p:bgPr>
        <a:blipFill>
          <a:blip r:embed="rId2">
            <a:alphaModFix/>
          </a:blip>
          <a:stretch>
            <a:fillRect/>
          </a:stretch>
        </a:blipFill>
        <a:effectLst/>
      </p:bgPr>
    </p:bg>
    <p:spTree>
      <p:nvGrpSpPr>
        <p:cNvPr id="1" name="Shape 55"/>
        <p:cNvGrpSpPr/>
        <p:nvPr/>
      </p:nvGrpSpPr>
      <p:grpSpPr>
        <a:xfrm>
          <a:off x="0" y="0"/>
          <a:ext cx="0" cy="0"/>
          <a:chOff x="0" y="0"/>
          <a:chExt cx="0" cy="0"/>
        </a:xfrm>
      </p:grpSpPr>
      <p:sp>
        <p:nvSpPr>
          <p:cNvPr id="56" name="Google Shape;56;p13"/>
          <p:cNvSpPr txBox="1"/>
          <p:nvPr/>
        </p:nvSpPr>
        <p:spPr>
          <a:xfrm>
            <a:off x="822900" y="6080418"/>
            <a:ext cx="2806000" cy="32842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t" sz="1067" b="0" i="0" u="none" strike="noStrike" cap="none">
                <a:solidFill>
                  <a:schemeClr val="lt1"/>
                </a:solidFill>
                <a:latin typeface="Montserrat Medium"/>
                <a:ea typeface="Montserrat Medium"/>
                <a:cs typeface="Montserrat Medium"/>
                <a:sym typeface="Montserrat Medium"/>
              </a:rPr>
              <a:t>edu.kood.tech</a:t>
            </a:r>
            <a:endParaRPr sz="1067" b="0" i="0" u="none" strike="noStrike" cap="none">
              <a:solidFill>
                <a:schemeClr val="lt1"/>
              </a:solidFill>
              <a:latin typeface="Montserrat Medium"/>
              <a:ea typeface="Montserrat Medium"/>
              <a:cs typeface="Montserrat Medium"/>
              <a:sym typeface="Montserrat Medium"/>
            </a:endParaRPr>
          </a:p>
          <a:p>
            <a:pPr marL="0" marR="0" lvl="0" indent="0" algn="l" rtl="0">
              <a:lnSpc>
                <a:spcPct val="100000"/>
              </a:lnSpc>
              <a:spcBef>
                <a:spcPts val="0"/>
              </a:spcBef>
              <a:spcAft>
                <a:spcPts val="0"/>
              </a:spcAft>
              <a:buClr>
                <a:srgbClr val="000000"/>
              </a:buClr>
              <a:buSzPts val="800"/>
              <a:buFont typeface="Arial"/>
              <a:buNone/>
            </a:pPr>
            <a:endParaRPr sz="1067" b="0" i="0" u="none" strike="noStrike" cap="none">
              <a:solidFill>
                <a:schemeClr val="lt1"/>
              </a:solidFill>
              <a:latin typeface="Montserrat SemiBold"/>
              <a:ea typeface="Montserrat SemiBold"/>
              <a:cs typeface="Montserrat SemiBold"/>
              <a:sym typeface="Montserrat SemiBold"/>
            </a:endParaRPr>
          </a:p>
        </p:txBody>
      </p:sp>
    </p:spTree>
    <p:extLst>
      <p:ext uri="{BB962C8B-B14F-4D97-AF65-F5344CB8AC3E}">
        <p14:creationId xmlns:p14="http://schemas.microsoft.com/office/powerpoint/2010/main" val="2386067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D51885-9DFD-211D-4628-02DC316D49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5B1A5EB-92F7-00E4-F10F-0A9D83D653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62BCDD7-9917-BCDE-A871-CFFE722A6B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C5F23E-B60B-4339-861A-854F6BEBBC69}" type="datetimeFigureOut">
              <a:rPr lang="ru-RU" smtClean="0"/>
              <a:t>09.01.2025</a:t>
            </a:fld>
            <a:endParaRPr lang="ru-RU"/>
          </a:p>
        </p:txBody>
      </p:sp>
      <p:sp>
        <p:nvSpPr>
          <p:cNvPr id="5" name="Нижний колонтитул 4">
            <a:extLst>
              <a:ext uri="{FF2B5EF4-FFF2-40B4-BE49-F238E27FC236}">
                <a16:creationId xmlns:a16="http://schemas.microsoft.com/office/drawing/2014/main" id="{E33A26FC-A81A-D281-DC27-956EA220E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253A1E89-AF17-73BB-8217-C38CE4385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D448E2-48E2-4069-8CFA-871F78B0288F}" type="slidenum">
              <a:rPr lang="ru-RU" smtClean="0"/>
              <a:t>‹#›</a:t>
            </a:fld>
            <a:endParaRPr lang="ru-RU"/>
          </a:p>
        </p:txBody>
      </p:sp>
    </p:spTree>
    <p:extLst>
      <p:ext uri="{BB962C8B-B14F-4D97-AF65-F5344CB8AC3E}">
        <p14:creationId xmlns:p14="http://schemas.microsoft.com/office/powerpoint/2010/main" val="12832912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47"/>
        <p:cNvGrpSpPr/>
        <p:nvPr/>
      </p:nvGrpSpPr>
      <p:grpSpPr>
        <a:xfrm>
          <a:off x="0" y="0"/>
          <a:ext cx="0" cy="0"/>
          <a:chOff x="0" y="0"/>
          <a:chExt cx="0" cy="0"/>
        </a:xfrm>
      </p:grpSpPr>
      <p:sp>
        <p:nvSpPr>
          <p:cNvPr id="248" name="Google Shape;248;p27"/>
          <p:cNvSpPr txBox="1"/>
          <p:nvPr/>
        </p:nvSpPr>
        <p:spPr>
          <a:xfrm>
            <a:off x="1425567" y="4701633"/>
            <a:ext cx="9834000" cy="800179"/>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dirty="0">
                <a:solidFill>
                  <a:schemeClr val="bg1"/>
                </a:solidFill>
                <a:latin typeface="Montserrat" panose="00000500000000000000" pitchFamily="2" charset="0"/>
              </a:rPr>
              <a:t>Databases and SQL Basics</a:t>
            </a:r>
            <a:endParaRPr kumimoji="0" lang="en-US" sz="3600" b="1" i="0" u="none" strike="noStrike" kern="1200" cap="none" spc="0" normalizeH="0" baseline="0" noProof="0" dirty="0">
              <a:ln>
                <a:noFill/>
              </a:ln>
              <a:solidFill>
                <a:schemeClr val="bg1"/>
              </a:solidFill>
              <a:effectLst/>
              <a:uLnTx/>
              <a:uFillTx/>
              <a:latin typeface="Montserrat" panose="00000500000000000000" pitchFamily="2" charset="0"/>
              <a:ea typeface="Montserrat"/>
              <a:cs typeface="Montserrat"/>
              <a:sym typeface="Montserrat"/>
            </a:endParaRPr>
          </a:p>
        </p:txBody>
      </p:sp>
      <p:sp>
        <p:nvSpPr>
          <p:cNvPr id="249" name="Google Shape;249;p27"/>
          <p:cNvSpPr txBox="1"/>
          <p:nvPr/>
        </p:nvSpPr>
        <p:spPr>
          <a:xfrm>
            <a:off x="375167" y="4352833"/>
            <a:ext cx="1296800" cy="1620853"/>
          </a:xfrm>
          <a:prstGeom prst="rect">
            <a:avLst/>
          </a:prstGeom>
          <a:noFill/>
          <a:ln>
            <a:noFill/>
          </a:ln>
        </p:spPr>
        <p:txBody>
          <a:bodyPr spcFirstLastPara="1" wrap="square" lIns="121900" tIns="121900" rIns="121900" bIns="1219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t" sz="8933" b="0" i="0" u="none" strike="noStrike" kern="1200" cap="none" spc="0" normalizeH="0" baseline="0" noProof="0">
                <a:ln>
                  <a:noFill/>
                </a:ln>
                <a:solidFill>
                  <a:srgbClr val="DCF900"/>
                </a:solidFill>
                <a:effectLst/>
                <a:uLnTx/>
                <a:uFillTx/>
                <a:latin typeface="Montserrat ExtraBold"/>
                <a:ea typeface="Montserrat ExtraBold"/>
                <a:cs typeface="Montserrat ExtraBold"/>
                <a:sym typeface="Montserrat ExtraBold"/>
              </a:rPr>
              <a:t>//</a:t>
            </a:r>
            <a:endParaRPr kumimoji="0" sz="8933" b="0" i="0" u="none" strike="noStrike" kern="1200" cap="none" spc="0" normalizeH="0" baseline="0" noProof="0">
              <a:ln>
                <a:noFill/>
              </a:ln>
              <a:solidFill>
                <a:srgbClr val="DCF900"/>
              </a:solidFill>
              <a:effectLst/>
              <a:uLnTx/>
              <a:uFillTx/>
              <a:latin typeface="Montserrat ExtraBold"/>
              <a:ea typeface="Montserrat ExtraBold"/>
              <a:cs typeface="Montserrat ExtraBold"/>
              <a:sym typeface="Montserrat ExtraBold"/>
            </a:endParaRPr>
          </a:p>
        </p:txBody>
      </p:sp>
      <p:pic>
        <p:nvPicPr>
          <p:cNvPr id="250" name="Google Shape;250;p27"/>
          <p:cNvPicPr preferRelativeResize="0"/>
          <p:nvPr/>
        </p:nvPicPr>
        <p:blipFill>
          <a:blip r:embed="rId4">
            <a:alphaModFix/>
          </a:blip>
          <a:stretch>
            <a:fillRect/>
          </a:stretch>
        </p:blipFill>
        <p:spPr>
          <a:xfrm>
            <a:off x="9570336" y="190534"/>
            <a:ext cx="2416469" cy="93803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p:cNvGrpSpPr/>
        <p:nvPr/>
      </p:nvGrpSpPr>
      <p:grpSpPr>
        <a:xfrm>
          <a:off x="0" y="0"/>
          <a:ext cx="0" cy="0"/>
          <a:chOff x="0" y="0"/>
          <a:chExt cx="0" cy="0"/>
        </a:xfrm>
      </p:grpSpPr>
      <p:pic>
        <p:nvPicPr>
          <p:cNvPr id="96" name="Google Shape;96;p17"/>
          <p:cNvPicPr preferRelativeResize="0"/>
          <p:nvPr/>
        </p:nvPicPr>
        <p:blipFill rotWithShape="1">
          <a:blip r:embed="rId4">
            <a:alphaModFix/>
          </a:blip>
          <a:srcRect/>
          <a:stretch/>
        </p:blipFill>
        <p:spPr>
          <a:xfrm>
            <a:off x="0" y="-62533"/>
            <a:ext cx="1119467" cy="1619233"/>
          </a:xfrm>
          <a:prstGeom prst="rect">
            <a:avLst/>
          </a:prstGeom>
          <a:noFill/>
          <a:ln>
            <a:noFill/>
          </a:ln>
        </p:spPr>
      </p:pic>
      <p:sp>
        <p:nvSpPr>
          <p:cNvPr id="97" name="Google Shape;97;p17"/>
          <p:cNvSpPr txBox="1"/>
          <p:nvPr/>
        </p:nvSpPr>
        <p:spPr>
          <a:xfrm>
            <a:off x="1119467" y="3028801"/>
            <a:ext cx="10065600" cy="883278"/>
          </a:xfrm>
          <a:prstGeom prst="rect">
            <a:avLst/>
          </a:prstGeom>
          <a:noFill/>
          <a:ln>
            <a:noFill/>
          </a:ln>
        </p:spPr>
        <p:txBody>
          <a:bodyPr spcFirstLastPara="1" wrap="square" lIns="121900" tIns="121900" rIns="121900" bIns="121900" anchor="t" anchorCtr="0">
            <a:spAutoFit/>
          </a:bodyPr>
          <a:lstStyle/>
          <a:p>
            <a:pPr lvl="0" algn="ctr">
              <a:lnSpc>
                <a:spcPct val="115000"/>
              </a:lnSpc>
              <a:buClr>
                <a:prstClr val="black"/>
              </a:buClr>
              <a:buSzPts val="2800"/>
            </a:pPr>
            <a:r>
              <a:rPr lang="en-US" sz="3600" dirty="0">
                <a:solidFill>
                  <a:srgbClr val="FFFFFF"/>
                </a:solidFill>
                <a:latin typeface="Montserrat" panose="00000500000000000000" pitchFamily="2" charset="0"/>
              </a:rPr>
              <a:t>What is a Database?</a:t>
            </a:r>
            <a:endParaRPr kumimoji="0" sz="3600" b="0"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sp>
        <p:nvSpPr>
          <p:cNvPr id="98" name="Google Shape;98;p17"/>
          <p:cNvSpPr txBox="1">
            <a:spLocks noGrp="1"/>
          </p:cNvSpPr>
          <p:nvPr>
            <p:ph type="title" idx="4294967295"/>
          </p:nvPr>
        </p:nvSpPr>
        <p:spPr>
          <a:xfrm>
            <a:off x="748733" y="602167"/>
            <a:ext cx="9502000" cy="763600"/>
          </a:xfrm>
          <a:prstGeom prst="rect">
            <a:avLst/>
          </a:prstGeom>
          <a:noFill/>
          <a:ln>
            <a:noFill/>
          </a:ln>
        </p:spPr>
        <p:txBody>
          <a:bodyPr spcFirstLastPara="1" vert="horz" wrap="square" lIns="121900" tIns="121900" rIns="121900" bIns="121900" rtlCol="0" anchor="t" anchorCtr="0">
            <a:noAutofit/>
          </a:bodyPr>
          <a:lstStyle/>
          <a:p>
            <a:pPr>
              <a:lnSpc>
                <a:spcPct val="115000"/>
              </a:lnSpc>
              <a:spcBef>
                <a:spcPts val="0"/>
              </a:spcBef>
              <a:buSzPts val="990"/>
            </a:pPr>
            <a:r>
              <a:rPr lang="en-US" sz="3600" b="1" dirty="0">
                <a:solidFill>
                  <a:schemeClr val="lt1"/>
                </a:solidFill>
                <a:latin typeface="Montserrat"/>
                <a:ea typeface="Montserrat"/>
                <a:cs typeface="Montserrat"/>
                <a:sym typeface="Montserrat"/>
              </a:rPr>
              <a:t>Database</a:t>
            </a:r>
            <a:endParaRPr sz="3600" b="1" dirty="0">
              <a:solidFill>
                <a:schemeClr val="lt1"/>
              </a:solidFill>
              <a:latin typeface="Montserrat"/>
              <a:ea typeface="Montserrat"/>
              <a:cs typeface="Montserrat"/>
              <a:sym typeface="Montserrat"/>
            </a:endParaRPr>
          </a:p>
        </p:txBody>
      </p:sp>
      <p:pic>
        <p:nvPicPr>
          <p:cNvPr id="99" name="Google Shape;99;p17"/>
          <p:cNvPicPr preferRelativeResize="0"/>
          <p:nvPr/>
        </p:nvPicPr>
        <p:blipFill rotWithShape="1">
          <a:blip r:embed="rId5">
            <a:alphaModFix/>
          </a:blip>
          <a:srcRect/>
          <a:stretch/>
        </p:blipFill>
        <p:spPr>
          <a:xfrm>
            <a:off x="4857547" y="699367"/>
            <a:ext cx="376267" cy="5692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5" name="Google Shape;115;p19"/>
          <p:cNvSpPr/>
          <p:nvPr/>
        </p:nvSpPr>
        <p:spPr>
          <a:xfrm>
            <a:off x="786567" y="6104533"/>
            <a:ext cx="1077200" cy="154000"/>
          </a:xfrm>
          <a:prstGeom prst="rect">
            <a:avLst/>
          </a:prstGeom>
          <a:solidFill>
            <a:srgbClr val="232830"/>
          </a:solidFill>
          <a:ln w="9525" cap="flat" cmpd="sng">
            <a:solidFill>
              <a:srgbClr val="23283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Montserrat"/>
              <a:ea typeface="Montserrat"/>
              <a:cs typeface="Montserrat"/>
              <a:sym typeface="Montserrat"/>
            </a:endParaRPr>
          </a:p>
        </p:txBody>
      </p:sp>
      <p:sp>
        <p:nvSpPr>
          <p:cNvPr id="111" name="Google Shape;111;p19"/>
          <p:cNvSpPr txBox="1"/>
          <p:nvPr/>
        </p:nvSpPr>
        <p:spPr>
          <a:xfrm>
            <a:off x="786567" y="1799669"/>
            <a:ext cx="7546401" cy="4061895"/>
          </a:xfrm>
          <a:prstGeom prst="rect">
            <a:avLst/>
          </a:prstGeom>
          <a:noFill/>
          <a:ln>
            <a:noFill/>
          </a:ln>
        </p:spPr>
        <p:txBody>
          <a:bodyPr spcFirstLastPara="1" wrap="square" lIns="60967" tIns="60967" rIns="60967" bIns="60967" anchor="t" anchorCtr="0">
            <a:spAutoFit/>
          </a:bodyPr>
          <a:lstStyle/>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A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structured</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collection of data.</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Stores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organizes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and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retrieves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information.</a:t>
            </a:r>
          </a:p>
          <a:p>
            <a:pPr marL="16933" marR="0" lvl="0" algn="l" defTabSz="914400" rtl="0" eaLnBrk="1" fontAlgn="auto" latinLnBrk="0" hangingPunct="1">
              <a:lnSpc>
                <a:spcPct val="200000"/>
              </a:lnSpc>
              <a:spcBef>
                <a:spcPts val="0"/>
              </a:spcBef>
              <a:spcAft>
                <a:spcPts val="0"/>
              </a:spcAft>
              <a:buClr>
                <a:srgbClr val="F7F7F7"/>
              </a:buClr>
              <a:buSzPts val="1600"/>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Examples: </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Customer records</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lang="en-US" sz="2133" b="1" dirty="0">
                <a:solidFill>
                  <a:srgbClr val="EEFF41"/>
                </a:solidFill>
                <a:latin typeface="Montserrat"/>
                <a:ea typeface="Montserrat"/>
                <a:cs typeface="Montserrat"/>
                <a:sym typeface="Montserrat"/>
              </a:rPr>
              <a:t>P</a:t>
            </a:r>
            <a:r>
              <a:rPr kumimoji="0" lang="en-US" sz="2133" b="1" i="0" u="none" strike="noStrike" kern="1200" cap="none" spc="0" normalizeH="0" baseline="0" noProof="0" dirty="0" err="1">
                <a:ln>
                  <a:noFill/>
                </a:ln>
                <a:solidFill>
                  <a:srgbClr val="EEFF41"/>
                </a:solidFill>
                <a:effectLst/>
                <a:uLnTx/>
                <a:uFillTx/>
                <a:latin typeface="Montserrat"/>
                <a:ea typeface="Montserrat"/>
                <a:cs typeface="Montserrat"/>
                <a:sym typeface="Montserrat"/>
              </a:rPr>
              <a:t>roduct</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 catalogs </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lang="en-US" sz="2133" b="1" dirty="0">
                <a:solidFill>
                  <a:srgbClr val="EEFF41"/>
                </a:solidFill>
                <a:latin typeface="Montserrat"/>
                <a:ea typeface="Montserrat"/>
                <a:cs typeface="Montserrat"/>
                <a:sym typeface="Montserrat"/>
              </a:rPr>
              <a:t>F</a:t>
            </a:r>
            <a:r>
              <a:rPr kumimoji="0" lang="en-US" sz="2133" b="1" i="0" u="none" strike="noStrike" kern="1200" cap="none" spc="0" normalizeH="0" baseline="0" noProof="0" dirty="0" err="1">
                <a:ln>
                  <a:noFill/>
                </a:ln>
                <a:solidFill>
                  <a:srgbClr val="EEFF41"/>
                </a:solidFill>
                <a:effectLst/>
                <a:uLnTx/>
                <a:uFillTx/>
                <a:latin typeface="Montserrat"/>
                <a:ea typeface="Montserrat"/>
                <a:cs typeface="Montserrat"/>
                <a:sym typeface="Montserrat"/>
              </a:rPr>
              <a:t>inancial</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 transactions</a:t>
            </a:r>
            <a:endParaRPr kumimoji="0" sz="2130" b="1" i="0" u="none" strike="noStrike" kern="1200" cap="none" spc="0" normalizeH="0" baseline="0" noProof="0" dirty="0">
              <a:ln>
                <a:noFill/>
              </a:ln>
              <a:solidFill>
                <a:srgbClr val="EEFF41"/>
              </a:solidFill>
              <a:effectLst/>
              <a:uLnTx/>
              <a:uFillTx/>
              <a:latin typeface="Montserrat" panose="00000500000000000000" pitchFamily="2" charset="0"/>
              <a:ea typeface="Montserrat"/>
              <a:cs typeface="Montserrat"/>
              <a:sym typeface="Montserrat"/>
            </a:endParaRPr>
          </a:p>
        </p:txBody>
      </p:sp>
      <p:sp>
        <p:nvSpPr>
          <p:cNvPr id="112" name="Google Shape;112;p19"/>
          <p:cNvSpPr txBox="1"/>
          <p:nvPr/>
        </p:nvSpPr>
        <p:spPr>
          <a:xfrm>
            <a:off x="922167" y="725768"/>
            <a:ext cx="6715762" cy="637097"/>
          </a:xfrm>
          <a:prstGeom prst="rect">
            <a:avLst/>
          </a:prstGeom>
          <a:noFill/>
          <a:ln>
            <a:noFill/>
          </a:ln>
        </p:spPr>
        <p:txBody>
          <a:bodyPr spcFirstLastPara="1" wrap="square" lIns="0" tIns="0" rIns="0" bIns="0" anchor="t" anchorCtr="0">
            <a:spAutoFit/>
          </a:bodyPr>
          <a:lstStyle/>
          <a:p>
            <a:pPr lvl="0">
              <a:lnSpc>
                <a:spcPct val="115000"/>
              </a:lnSpc>
              <a:buClr>
                <a:prstClr val="black"/>
              </a:buClr>
              <a:buSzPts val="2800"/>
            </a:pPr>
            <a:r>
              <a:rPr lang="en-US" sz="3600" b="1" dirty="0">
                <a:solidFill>
                  <a:srgbClr val="FFFFFF"/>
                </a:solidFill>
                <a:latin typeface="Montserrat" panose="00000500000000000000" pitchFamily="2" charset="0"/>
              </a:rPr>
              <a:t>What is a Database?</a:t>
            </a:r>
            <a:endPar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pic>
        <p:nvPicPr>
          <p:cNvPr id="114" name="Google Shape;114;p19"/>
          <p:cNvPicPr preferRelativeResize="0"/>
          <p:nvPr/>
        </p:nvPicPr>
        <p:blipFill>
          <a:blip r:embed="rId3">
            <a:alphaModFix/>
          </a:blip>
          <a:stretch>
            <a:fillRect/>
          </a:stretch>
        </p:blipFill>
        <p:spPr>
          <a:xfrm>
            <a:off x="9570336" y="190534"/>
            <a:ext cx="2416469" cy="938033"/>
          </a:xfrm>
          <a:prstGeom prst="rect">
            <a:avLst/>
          </a:prstGeom>
          <a:noFill/>
          <a:ln>
            <a:noFill/>
          </a:ln>
        </p:spPr>
      </p:pic>
      <p:pic>
        <p:nvPicPr>
          <p:cNvPr id="116" name="Google Shape;116;p19"/>
          <p:cNvPicPr preferRelativeResize="0"/>
          <p:nvPr/>
        </p:nvPicPr>
        <p:blipFill rotWithShape="1">
          <a:blip r:embed="rId4">
            <a:alphaModFix/>
          </a:blip>
          <a:srcRect/>
          <a:stretch/>
        </p:blipFill>
        <p:spPr>
          <a:xfrm>
            <a:off x="0" y="-62533"/>
            <a:ext cx="1119467" cy="1619233"/>
          </a:xfrm>
          <a:prstGeom prst="rect">
            <a:avLst/>
          </a:prstGeom>
          <a:noFill/>
          <a:ln>
            <a:noFill/>
          </a:ln>
        </p:spPr>
      </p:pic>
      <p:pic>
        <p:nvPicPr>
          <p:cNvPr id="2" name="Google Shape;99;p17">
            <a:extLst>
              <a:ext uri="{FF2B5EF4-FFF2-40B4-BE49-F238E27FC236}">
                <a16:creationId xmlns:a16="http://schemas.microsoft.com/office/drawing/2014/main" id="{B79CD752-B337-02FE-2520-62A0F5ECC2A4}"/>
              </a:ext>
            </a:extLst>
          </p:cNvPr>
          <p:cNvPicPr preferRelativeResize="0"/>
          <p:nvPr/>
        </p:nvPicPr>
        <p:blipFill rotWithShape="1">
          <a:blip r:embed="rId5">
            <a:alphaModFix/>
          </a:blip>
          <a:srcRect/>
          <a:stretch/>
        </p:blipFill>
        <p:spPr>
          <a:xfrm>
            <a:off x="5967383" y="659550"/>
            <a:ext cx="376267" cy="569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25C7E76-206C-478B-2A59-6A3403F4E685}"/>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7FDC3E54-A97A-1BB4-6293-94D1BC277BB1}"/>
              </a:ext>
            </a:extLst>
          </p:cNvPr>
          <p:cNvSpPr/>
          <p:nvPr/>
        </p:nvSpPr>
        <p:spPr>
          <a:xfrm>
            <a:off x="786567" y="6104533"/>
            <a:ext cx="1077200" cy="154000"/>
          </a:xfrm>
          <a:prstGeom prst="rect">
            <a:avLst/>
          </a:prstGeom>
          <a:solidFill>
            <a:srgbClr val="232830"/>
          </a:solidFill>
          <a:ln w="9525" cap="flat" cmpd="sng">
            <a:solidFill>
              <a:srgbClr val="23283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Montserrat"/>
              <a:ea typeface="Montserrat"/>
              <a:cs typeface="Montserrat"/>
              <a:sym typeface="Montserrat"/>
            </a:endParaRPr>
          </a:p>
        </p:txBody>
      </p:sp>
      <p:sp>
        <p:nvSpPr>
          <p:cNvPr id="111" name="Google Shape;111;p19">
            <a:extLst>
              <a:ext uri="{FF2B5EF4-FFF2-40B4-BE49-F238E27FC236}">
                <a16:creationId xmlns:a16="http://schemas.microsoft.com/office/drawing/2014/main" id="{321CBA2A-2EB9-9689-8C36-1E53D3B036E7}"/>
              </a:ext>
            </a:extLst>
          </p:cNvPr>
          <p:cNvSpPr txBox="1"/>
          <p:nvPr/>
        </p:nvSpPr>
        <p:spPr>
          <a:xfrm>
            <a:off x="786567" y="1799669"/>
            <a:ext cx="8236783" cy="4061895"/>
          </a:xfrm>
          <a:prstGeom prst="rect">
            <a:avLst/>
          </a:prstGeom>
          <a:noFill/>
          <a:ln>
            <a:noFill/>
          </a:ln>
        </p:spPr>
        <p:txBody>
          <a:bodyPr spcFirstLastPara="1" wrap="square" lIns="60967" tIns="60967" rIns="60967" bIns="60967" anchor="t" anchorCtr="0">
            <a:spAutoFit/>
          </a:bodyPr>
          <a:lstStyle/>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Relational Databases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Tables with rows and columns (e.g., MySQL, PostgreSQL).</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NoSQL Databases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Flexible structures like JSON (e.g., MongoDB).</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In-Memory Databases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Fast, temporary storage (e.g., Redis).</a:t>
            </a:r>
            <a:endParaRPr kumimoji="0" sz="2130" b="1" i="0" u="none" strike="noStrike" kern="1200" cap="none" spc="0" normalizeH="0" baseline="0" noProof="0" dirty="0">
              <a:ln>
                <a:noFill/>
              </a:ln>
              <a:solidFill>
                <a:srgbClr val="FFFFFF"/>
              </a:solidFill>
              <a:effectLst/>
              <a:uLnTx/>
              <a:uFillTx/>
              <a:latin typeface="Montserrat" panose="00000500000000000000" pitchFamily="2" charset="0"/>
              <a:ea typeface="Montserrat"/>
              <a:cs typeface="Montserrat"/>
              <a:sym typeface="Montserrat"/>
            </a:endParaRPr>
          </a:p>
        </p:txBody>
      </p:sp>
      <p:sp>
        <p:nvSpPr>
          <p:cNvPr id="112" name="Google Shape;112;p19">
            <a:extLst>
              <a:ext uri="{FF2B5EF4-FFF2-40B4-BE49-F238E27FC236}">
                <a16:creationId xmlns:a16="http://schemas.microsoft.com/office/drawing/2014/main" id="{E2655764-778F-3D3C-8899-C64E9DE6B0FB}"/>
              </a:ext>
            </a:extLst>
          </p:cNvPr>
          <p:cNvSpPr txBox="1"/>
          <p:nvPr/>
        </p:nvSpPr>
        <p:spPr>
          <a:xfrm>
            <a:off x="922167" y="725768"/>
            <a:ext cx="6715762" cy="637097"/>
          </a:xfrm>
          <a:prstGeom prst="rect">
            <a:avLst/>
          </a:prstGeom>
          <a:noFill/>
          <a:ln>
            <a:noFill/>
          </a:ln>
        </p:spPr>
        <p:txBody>
          <a:bodyPr spcFirstLastPara="1" wrap="square" lIns="0" tIns="0" rIns="0" bIns="0" anchor="t" anchorCtr="0">
            <a:spAutoFit/>
          </a:bodyPr>
          <a:lstStyle/>
          <a:p>
            <a:pPr lvl="0">
              <a:lnSpc>
                <a:spcPct val="115000"/>
              </a:lnSpc>
              <a:buClr>
                <a:prstClr val="black"/>
              </a:buClr>
              <a:buSzPts val="2800"/>
            </a:pPr>
            <a:r>
              <a:rPr lang="en-US" sz="3600" b="1" dirty="0">
                <a:solidFill>
                  <a:srgbClr val="FFFFFF"/>
                </a:solidFill>
                <a:latin typeface="Montserrat" panose="00000500000000000000" pitchFamily="2" charset="0"/>
              </a:rPr>
              <a:t>Types of Databases</a:t>
            </a:r>
            <a:endPar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pic>
        <p:nvPicPr>
          <p:cNvPr id="114" name="Google Shape;114;p19">
            <a:extLst>
              <a:ext uri="{FF2B5EF4-FFF2-40B4-BE49-F238E27FC236}">
                <a16:creationId xmlns:a16="http://schemas.microsoft.com/office/drawing/2014/main" id="{6B533265-9123-32F3-9804-D51E0D198E98}"/>
              </a:ext>
            </a:extLst>
          </p:cNvPr>
          <p:cNvPicPr preferRelativeResize="0"/>
          <p:nvPr/>
        </p:nvPicPr>
        <p:blipFill>
          <a:blip r:embed="rId3">
            <a:alphaModFix/>
          </a:blip>
          <a:stretch>
            <a:fillRect/>
          </a:stretch>
        </p:blipFill>
        <p:spPr>
          <a:xfrm>
            <a:off x="9570336" y="190534"/>
            <a:ext cx="2416469" cy="938033"/>
          </a:xfrm>
          <a:prstGeom prst="rect">
            <a:avLst/>
          </a:prstGeom>
          <a:noFill/>
          <a:ln>
            <a:noFill/>
          </a:ln>
        </p:spPr>
      </p:pic>
      <p:pic>
        <p:nvPicPr>
          <p:cNvPr id="116" name="Google Shape;116;p19">
            <a:extLst>
              <a:ext uri="{FF2B5EF4-FFF2-40B4-BE49-F238E27FC236}">
                <a16:creationId xmlns:a16="http://schemas.microsoft.com/office/drawing/2014/main" id="{1FCCE81A-08AC-3E39-448A-B5F0283507C7}"/>
              </a:ext>
            </a:extLst>
          </p:cNvPr>
          <p:cNvPicPr preferRelativeResize="0"/>
          <p:nvPr/>
        </p:nvPicPr>
        <p:blipFill rotWithShape="1">
          <a:blip r:embed="rId4">
            <a:alphaModFix/>
          </a:blip>
          <a:srcRect/>
          <a:stretch/>
        </p:blipFill>
        <p:spPr>
          <a:xfrm>
            <a:off x="0" y="-62533"/>
            <a:ext cx="1119467" cy="1619233"/>
          </a:xfrm>
          <a:prstGeom prst="rect">
            <a:avLst/>
          </a:prstGeom>
          <a:noFill/>
          <a:ln>
            <a:noFill/>
          </a:ln>
        </p:spPr>
      </p:pic>
      <p:pic>
        <p:nvPicPr>
          <p:cNvPr id="2" name="Google Shape;99;p17">
            <a:extLst>
              <a:ext uri="{FF2B5EF4-FFF2-40B4-BE49-F238E27FC236}">
                <a16:creationId xmlns:a16="http://schemas.microsoft.com/office/drawing/2014/main" id="{E38EBD2E-F897-1241-FE77-345F681E4F1F}"/>
              </a:ext>
            </a:extLst>
          </p:cNvPr>
          <p:cNvPicPr preferRelativeResize="0"/>
          <p:nvPr/>
        </p:nvPicPr>
        <p:blipFill rotWithShape="1">
          <a:blip r:embed="rId5">
            <a:alphaModFix/>
          </a:blip>
          <a:srcRect/>
          <a:stretch/>
        </p:blipFill>
        <p:spPr>
          <a:xfrm>
            <a:off x="5719733" y="659550"/>
            <a:ext cx="376267" cy="569200"/>
          </a:xfrm>
          <a:prstGeom prst="rect">
            <a:avLst/>
          </a:prstGeom>
          <a:noFill/>
          <a:ln>
            <a:noFill/>
          </a:ln>
        </p:spPr>
      </p:pic>
    </p:spTree>
    <p:extLst>
      <p:ext uri="{BB962C8B-B14F-4D97-AF65-F5344CB8AC3E}">
        <p14:creationId xmlns:p14="http://schemas.microsoft.com/office/powerpoint/2010/main" val="61505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C107F6A8-A1E7-8F17-11B2-F6FAF685D00C}"/>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12A45141-83B5-8DF2-E75E-6C9807EEE50C}"/>
              </a:ext>
            </a:extLst>
          </p:cNvPr>
          <p:cNvSpPr/>
          <p:nvPr/>
        </p:nvSpPr>
        <p:spPr>
          <a:xfrm>
            <a:off x="786567" y="6104533"/>
            <a:ext cx="1077200" cy="154000"/>
          </a:xfrm>
          <a:prstGeom prst="rect">
            <a:avLst/>
          </a:prstGeom>
          <a:solidFill>
            <a:srgbClr val="232830"/>
          </a:solidFill>
          <a:ln w="9525" cap="flat" cmpd="sng">
            <a:solidFill>
              <a:srgbClr val="23283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Montserrat"/>
              <a:ea typeface="Montserrat"/>
              <a:cs typeface="Montserrat"/>
              <a:sym typeface="Montserrat"/>
            </a:endParaRPr>
          </a:p>
        </p:txBody>
      </p:sp>
      <p:sp>
        <p:nvSpPr>
          <p:cNvPr id="111" name="Google Shape;111;p19">
            <a:extLst>
              <a:ext uri="{FF2B5EF4-FFF2-40B4-BE49-F238E27FC236}">
                <a16:creationId xmlns:a16="http://schemas.microsoft.com/office/drawing/2014/main" id="{437E13C9-8806-F2AA-204A-7D3680753BB0}"/>
              </a:ext>
            </a:extLst>
          </p:cNvPr>
          <p:cNvSpPr txBox="1"/>
          <p:nvPr/>
        </p:nvSpPr>
        <p:spPr>
          <a:xfrm>
            <a:off x="786567" y="1799669"/>
            <a:ext cx="9637593" cy="2092510"/>
          </a:xfrm>
          <a:prstGeom prst="rect">
            <a:avLst/>
          </a:prstGeom>
          <a:noFill/>
          <a:ln>
            <a:noFill/>
          </a:ln>
        </p:spPr>
        <p:txBody>
          <a:bodyPr spcFirstLastPara="1" wrap="square" lIns="60967" tIns="60967" rIns="60967" bIns="60967" anchor="t" anchorCtr="0">
            <a:spAutoFit/>
          </a:bodyPr>
          <a:lstStyle/>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Stands for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Structured Query Language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A standard language for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interacting</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with relational databases.</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Used for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creating</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reading</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updating</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and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deleting</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data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CRUD</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a:t>
            </a:r>
            <a:endParaRPr kumimoji="0" sz="2130" b="1" i="0" u="none" strike="noStrike" kern="1200" cap="none" spc="0" normalizeH="0" baseline="0" noProof="0" dirty="0">
              <a:ln>
                <a:noFill/>
              </a:ln>
              <a:solidFill>
                <a:srgbClr val="FFFFFF"/>
              </a:solidFill>
              <a:effectLst/>
              <a:uLnTx/>
              <a:uFillTx/>
              <a:latin typeface="Montserrat" panose="00000500000000000000" pitchFamily="2" charset="0"/>
              <a:ea typeface="Montserrat"/>
              <a:cs typeface="Montserrat"/>
              <a:sym typeface="Montserrat"/>
            </a:endParaRPr>
          </a:p>
        </p:txBody>
      </p:sp>
      <p:sp>
        <p:nvSpPr>
          <p:cNvPr id="112" name="Google Shape;112;p19">
            <a:extLst>
              <a:ext uri="{FF2B5EF4-FFF2-40B4-BE49-F238E27FC236}">
                <a16:creationId xmlns:a16="http://schemas.microsoft.com/office/drawing/2014/main" id="{CE64C3D3-F39C-F3D6-50B3-4D28FC07BA28}"/>
              </a:ext>
            </a:extLst>
          </p:cNvPr>
          <p:cNvSpPr txBox="1"/>
          <p:nvPr/>
        </p:nvSpPr>
        <p:spPr>
          <a:xfrm>
            <a:off x="922167" y="725768"/>
            <a:ext cx="6715762" cy="63709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prstClr val="black"/>
              </a:buClr>
              <a:buSzPts val="2800"/>
              <a:buFontTx/>
              <a:buNone/>
              <a:tabLst/>
              <a:defRPr/>
            </a:pPr>
            <a:r>
              <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What is a SQL?</a:t>
            </a:r>
            <a:endPar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pic>
        <p:nvPicPr>
          <p:cNvPr id="114" name="Google Shape;114;p19">
            <a:extLst>
              <a:ext uri="{FF2B5EF4-FFF2-40B4-BE49-F238E27FC236}">
                <a16:creationId xmlns:a16="http://schemas.microsoft.com/office/drawing/2014/main" id="{A5DB23D2-C4EC-E024-2E89-121DD998C230}"/>
              </a:ext>
            </a:extLst>
          </p:cNvPr>
          <p:cNvPicPr preferRelativeResize="0"/>
          <p:nvPr/>
        </p:nvPicPr>
        <p:blipFill>
          <a:blip r:embed="rId3">
            <a:alphaModFix/>
          </a:blip>
          <a:stretch>
            <a:fillRect/>
          </a:stretch>
        </p:blipFill>
        <p:spPr>
          <a:xfrm>
            <a:off x="9570336" y="190534"/>
            <a:ext cx="2416469" cy="938033"/>
          </a:xfrm>
          <a:prstGeom prst="rect">
            <a:avLst/>
          </a:prstGeom>
          <a:noFill/>
          <a:ln>
            <a:noFill/>
          </a:ln>
        </p:spPr>
      </p:pic>
      <p:pic>
        <p:nvPicPr>
          <p:cNvPr id="116" name="Google Shape;116;p19">
            <a:extLst>
              <a:ext uri="{FF2B5EF4-FFF2-40B4-BE49-F238E27FC236}">
                <a16:creationId xmlns:a16="http://schemas.microsoft.com/office/drawing/2014/main" id="{8984C6D4-5446-2C97-C74A-934EEC9E844A}"/>
              </a:ext>
            </a:extLst>
          </p:cNvPr>
          <p:cNvPicPr preferRelativeResize="0"/>
          <p:nvPr/>
        </p:nvPicPr>
        <p:blipFill rotWithShape="1">
          <a:blip r:embed="rId4">
            <a:alphaModFix/>
          </a:blip>
          <a:srcRect/>
          <a:stretch/>
        </p:blipFill>
        <p:spPr>
          <a:xfrm>
            <a:off x="0" y="-62533"/>
            <a:ext cx="1119467" cy="1619233"/>
          </a:xfrm>
          <a:prstGeom prst="rect">
            <a:avLst/>
          </a:prstGeom>
          <a:noFill/>
          <a:ln>
            <a:noFill/>
          </a:ln>
        </p:spPr>
      </p:pic>
      <p:pic>
        <p:nvPicPr>
          <p:cNvPr id="2" name="Google Shape;99;p17">
            <a:extLst>
              <a:ext uri="{FF2B5EF4-FFF2-40B4-BE49-F238E27FC236}">
                <a16:creationId xmlns:a16="http://schemas.microsoft.com/office/drawing/2014/main" id="{EAEE263F-278A-C2C3-1D67-D4FC9AA8B32E}"/>
              </a:ext>
            </a:extLst>
          </p:cNvPr>
          <p:cNvPicPr preferRelativeResize="0"/>
          <p:nvPr/>
        </p:nvPicPr>
        <p:blipFill rotWithShape="1">
          <a:blip r:embed="rId5">
            <a:alphaModFix/>
          </a:blip>
          <a:srcRect/>
          <a:stretch/>
        </p:blipFill>
        <p:spPr>
          <a:xfrm>
            <a:off x="4645020" y="659550"/>
            <a:ext cx="376267" cy="569200"/>
          </a:xfrm>
          <a:prstGeom prst="rect">
            <a:avLst/>
          </a:prstGeom>
          <a:noFill/>
          <a:ln>
            <a:noFill/>
          </a:ln>
        </p:spPr>
      </p:pic>
    </p:spTree>
    <p:extLst>
      <p:ext uri="{BB962C8B-B14F-4D97-AF65-F5344CB8AC3E}">
        <p14:creationId xmlns:p14="http://schemas.microsoft.com/office/powerpoint/2010/main" val="6191280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600154C0-6F51-A569-28C9-0FFE30E91C34}"/>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C91A46EB-20A9-A125-F54B-32C6ED71F689}"/>
              </a:ext>
            </a:extLst>
          </p:cNvPr>
          <p:cNvSpPr/>
          <p:nvPr/>
        </p:nvSpPr>
        <p:spPr>
          <a:xfrm>
            <a:off x="786567" y="6104533"/>
            <a:ext cx="1077200" cy="154000"/>
          </a:xfrm>
          <a:prstGeom prst="rect">
            <a:avLst/>
          </a:prstGeom>
          <a:solidFill>
            <a:srgbClr val="232830"/>
          </a:solidFill>
          <a:ln w="9525" cap="flat" cmpd="sng">
            <a:solidFill>
              <a:srgbClr val="23283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Montserrat"/>
              <a:ea typeface="Montserrat"/>
              <a:cs typeface="Montserrat"/>
              <a:sym typeface="Montserrat"/>
            </a:endParaRPr>
          </a:p>
        </p:txBody>
      </p:sp>
      <p:sp>
        <p:nvSpPr>
          <p:cNvPr id="111" name="Google Shape;111;p19">
            <a:extLst>
              <a:ext uri="{FF2B5EF4-FFF2-40B4-BE49-F238E27FC236}">
                <a16:creationId xmlns:a16="http://schemas.microsoft.com/office/drawing/2014/main" id="{0C5FE83B-9409-582C-A1D7-1AC72DB06251}"/>
              </a:ext>
            </a:extLst>
          </p:cNvPr>
          <p:cNvSpPr txBox="1"/>
          <p:nvPr/>
        </p:nvSpPr>
        <p:spPr>
          <a:xfrm>
            <a:off x="786567" y="1799669"/>
            <a:ext cx="10671568" cy="4472521"/>
          </a:xfrm>
          <a:prstGeom prst="rect">
            <a:avLst/>
          </a:prstGeom>
          <a:noFill/>
          <a:ln>
            <a:noFill/>
          </a:ln>
        </p:spPr>
        <p:txBody>
          <a:bodyPr spcFirstLastPara="1" wrap="square" lIns="60967" tIns="60967" rIns="60967" bIns="60967" anchor="t" anchorCtr="0">
            <a:spAutoFit/>
          </a:bodyPr>
          <a:lstStyle/>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SELECT</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Retrieve data from a table.</a:t>
            </a:r>
          </a:p>
          <a:p>
            <a:pPr marL="16933" marR="0" lvl="0" algn="l" defTabSz="914400" rtl="0" eaLnBrk="1" fontAlgn="auto" latinLnBrk="0" hangingPunct="1">
              <a:lnSpc>
                <a:spcPct val="200000"/>
              </a:lnSpc>
              <a:spcBef>
                <a:spcPts val="0"/>
              </a:spcBef>
              <a:spcAft>
                <a:spcPts val="0"/>
              </a:spcAft>
              <a:buClr>
                <a:srgbClr val="F7F7F7"/>
              </a:buClr>
              <a:buSzPts val="1600"/>
              <a:tabLst/>
              <a:defRPr/>
            </a:pP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SELECT</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 </a:t>
            </a: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FROM</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customers;  </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INSERT</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Add new data.</a:t>
            </a:r>
          </a:p>
          <a:p>
            <a:pPr marL="16933" marR="0" lvl="0" algn="l" defTabSz="914400" rtl="0" eaLnBrk="1" fontAlgn="auto" latinLnBrk="0" hangingPunct="1">
              <a:lnSpc>
                <a:spcPct val="200000"/>
              </a:lnSpc>
              <a:spcBef>
                <a:spcPts val="0"/>
              </a:spcBef>
              <a:spcAft>
                <a:spcPts val="0"/>
              </a:spcAft>
              <a:buClr>
                <a:srgbClr val="F7F7F7"/>
              </a:buClr>
              <a:buSzPts val="1600"/>
              <a:tabLst/>
              <a:defRPr/>
            </a:pP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INSERT INTO </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customers (name, email) </a:t>
            </a: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VALUES</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('John', 'john@example.com');  </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UPDATE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Modify existing data.</a:t>
            </a:r>
          </a:p>
          <a:p>
            <a:pPr marL="16933" marR="0" lvl="0" algn="l" defTabSz="914400" rtl="0" eaLnBrk="1" fontAlgn="auto" latinLnBrk="0" hangingPunct="1">
              <a:lnSpc>
                <a:spcPct val="200000"/>
              </a:lnSpc>
              <a:spcBef>
                <a:spcPts val="0"/>
              </a:spcBef>
              <a:spcAft>
                <a:spcPts val="0"/>
              </a:spcAft>
              <a:buClr>
                <a:srgbClr val="F7F7F7"/>
              </a:buClr>
              <a:buSzPts val="1600"/>
              <a:tabLst/>
              <a:defRPr/>
            </a:pP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UPDATE</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customers </a:t>
            </a: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SET</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email = 'new@example.com' </a:t>
            </a: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WHERE</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id = 1;  </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DELETE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Remove data.</a:t>
            </a:r>
          </a:p>
          <a:p>
            <a:pPr marL="16933" marR="0" lvl="0" algn="l" defTabSz="914400" rtl="0" eaLnBrk="1" fontAlgn="auto" latinLnBrk="0" hangingPunct="1">
              <a:lnSpc>
                <a:spcPct val="200000"/>
              </a:lnSpc>
              <a:spcBef>
                <a:spcPts val="0"/>
              </a:spcBef>
              <a:spcAft>
                <a:spcPts val="0"/>
              </a:spcAft>
              <a:buClr>
                <a:srgbClr val="F7F7F7"/>
              </a:buClr>
              <a:buSzPts val="1600"/>
              <a:tabLst/>
              <a:defRPr/>
            </a:pP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DELETE FROM </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customers </a:t>
            </a:r>
            <a:r>
              <a:rPr kumimoji="0" lang="en-US" sz="1400" b="1" i="0" u="none" strike="noStrike" kern="1200" cap="none" spc="0" normalizeH="0" baseline="0" noProof="0" dirty="0">
                <a:ln>
                  <a:noFill/>
                </a:ln>
                <a:solidFill>
                  <a:schemeClr val="accent5">
                    <a:lumMod val="60000"/>
                    <a:lumOff val="40000"/>
                  </a:schemeClr>
                </a:solidFill>
                <a:effectLst/>
                <a:uLnTx/>
                <a:uFillTx/>
                <a:latin typeface="Montserrat"/>
                <a:ea typeface="Montserrat"/>
                <a:cs typeface="Montserrat"/>
                <a:sym typeface="Montserrat"/>
              </a:rPr>
              <a:t>WHERE</a:t>
            </a:r>
            <a:r>
              <a:rPr kumimoji="0" lang="en-US" sz="1400" b="1" i="0" u="none" strike="noStrike" kern="1200" cap="none" spc="0" normalizeH="0" baseline="0" noProof="0" dirty="0">
                <a:ln>
                  <a:noFill/>
                </a:ln>
                <a:solidFill>
                  <a:prstClr val="white"/>
                </a:solidFill>
                <a:effectLst/>
                <a:uLnTx/>
                <a:uFillTx/>
                <a:latin typeface="Montserrat"/>
                <a:ea typeface="Montserrat"/>
                <a:cs typeface="Montserrat"/>
                <a:sym typeface="Montserrat"/>
              </a:rPr>
              <a:t> id = 1; </a:t>
            </a:r>
            <a:endParaRPr kumimoji="0" sz="1400" b="1" i="0" u="none" strike="noStrike" kern="1200" cap="none" spc="0" normalizeH="0" baseline="0" noProof="0" dirty="0">
              <a:ln>
                <a:noFill/>
              </a:ln>
              <a:solidFill>
                <a:srgbClr val="FFFFFF"/>
              </a:solidFill>
              <a:effectLst/>
              <a:uLnTx/>
              <a:uFillTx/>
              <a:latin typeface="Montserrat" panose="00000500000000000000" pitchFamily="2" charset="0"/>
              <a:ea typeface="Montserrat"/>
              <a:cs typeface="Montserrat"/>
              <a:sym typeface="Montserrat"/>
            </a:endParaRPr>
          </a:p>
        </p:txBody>
      </p:sp>
      <p:sp>
        <p:nvSpPr>
          <p:cNvPr id="112" name="Google Shape;112;p19">
            <a:extLst>
              <a:ext uri="{FF2B5EF4-FFF2-40B4-BE49-F238E27FC236}">
                <a16:creationId xmlns:a16="http://schemas.microsoft.com/office/drawing/2014/main" id="{4FEA506F-7A36-6C26-0B05-B99133B4BD70}"/>
              </a:ext>
            </a:extLst>
          </p:cNvPr>
          <p:cNvSpPr txBox="1"/>
          <p:nvPr/>
        </p:nvSpPr>
        <p:spPr>
          <a:xfrm>
            <a:off x="922167" y="725768"/>
            <a:ext cx="6715762" cy="63709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prstClr val="black"/>
              </a:buClr>
              <a:buSzPts val="2800"/>
              <a:buFontTx/>
              <a:buNone/>
              <a:tabLst/>
              <a:defRPr/>
            </a:pPr>
            <a:r>
              <a:rPr lang="en-US" sz="3600" b="1" dirty="0">
                <a:solidFill>
                  <a:srgbClr val="FFFFFF"/>
                </a:solidFill>
              </a:rPr>
              <a:t>Common SQL Commands</a:t>
            </a:r>
            <a:r>
              <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pic>
        <p:nvPicPr>
          <p:cNvPr id="114" name="Google Shape;114;p19">
            <a:extLst>
              <a:ext uri="{FF2B5EF4-FFF2-40B4-BE49-F238E27FC236}">
                <a16:creationId xmlns:a16="http://schemas.microsoft.com/office/drawing/2014/main" id="{7FE10C41-5991-56C9-3EF1-47920270FE9D}"/>
              </a:ext>
            </a:extLst>
          </p:cNvPr>
          <p:cNvPicPr preferRelativeResize="0"/>
          <p:nvPr/>
        </p:nvPicPr>
        <p:blipFill>
          <a:blip r:embed="rId3">
            <a:alphaModFix/>
          </a:blip>
          <a:stretch>
            <a:fillRect/>
          </a:stretch>
        </p:blipFill>
        <p:spPr>
          <a:xfrm>
            <a:off x="9570336" y="190534"/>
            <a:ext cx="2416469" cy="938033"/>
          </a:xfrm>
          <a:prstGeom prst="rect">
            <a:avLst/>
          </a:prstGeom>
          <a:noFill/>
          <a:ln>
            <a:noFill/>
          </a:ln>
        </p:spPr>
      </p:pic>
      <p:pic>
        <p:nvPicPr>
          <p:cNvPr id="116" name="Google Shape;116;p19">
            <a:extLst>
              <a:ext uri="{FF2B5EF4-FFF2-40B4-BE49-F238E27FC236}">
                <a16:creationId xmlns:a16="http://schemas.microsoft.com/office/drawing/2014/main" id="{1C544743-EAEE-0246-E62C-EC5CC5B02789}"/>
              </a:ext>
            </a:extLst>
          </p:cNvPr>
          <p:cNvPicPr preferRelativeResize="0"/>
          <p:nvPr/>
        </p:nvPicPr>
        <p:blipFill rotWithShape="1">
          <a:blip r:embed="rId4">
            <a:alphaModFix/>
          </a:blip>
          <a:srcRect/>
          <a:stretch/>
        </p:blipFill>
        <p:spPr>
          <a:xfrm>
            <a:off x="0" y="-62533"/>
            <a:ext cx="1119467" cy="1619233"/>
          </a:xfrm>
          <a:prstGeom prst="rect">
            <a:avLst/>
          </a:prstGeom>
          <a:noFill/>
          <a:ln>
            <a:noFill/>
          </a:ln>
        </p:spPr>
      </p:pic>
      <p:pic>
        <p:nvPicPr>
          <p:cNvPr id="2" name="Google Shape;99;p17">
            <a:extLst>
              <a:ext uri="{FF2B5EF4-FFF2-40B4-BE49-F238E27FC236}">
                <a16:creationId xmlns:a16="http://schemas.microsoft.com/office/drawing/2014/main" id="{B4B0BD69-5F89-C566-A663-557F9B48B4AA}"/>
              </a:ext>
            </a:extLst>
          </p:cNvPr>
          <p:cNvPicPr preferRelativeResize="0"/>
          <p:nvPr/>
        </p:nvPicPr>
        <p:blipFill rotWithShape="1">
          <a:blip r:embed="rId5">
            <a:alphaModFix/>
          </a:blip>
          <a:srcRect/>
          <a:stretch/>
        </p:blipFill>
        <p:spPr>
          <a:xfrm>
            <a:off x="6684835" y="727467"/>
            <a:ext cx="376267" cy="569200"/>
          </a:xfrm>
          <a:prstGeom prst="rect">
            <a:avLst/>
          </a:prstGeom>
          <a:noFill/>
          <a:ln>
            <a:noFill/>
          </a:ln>
        </p:spPr>
      </p:pic>
    </p:spTree>
    <p:extLst>
      <p:ext uri="{BB962C8B-B14F-4D97-AF65-F5344CB8AC3E}">
        <p14:creationId xmlns:p14="http://schemas.microsoft.com/office/powerpoint/2010/main" val="22800599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E02A4F1C-1654-0D3A-C036-4BA920DF9EB5}"/>
            </a:ext>
          </a:extLst>
        </p:cNvPr>
        <p:cNvGrpSpPr/>
        <p:nvPr/>
      </p:nvGrpSpPr>
      <p:grpSpPr>
        <a:xfrm>
          <a:off x="0" y="0"/>
          <a:ext cx="0" cy="0"/>
          <a:chOff x="0" y="0"/>
          <a:chExt cx="0" cy="0"/>
        </a:xfrm>
      </p:grpSpPr>
      <p:sp>
        <p:nvSpPr>
          <p:cNvPr id="115" name="Google Shape;115;p19">
            <a:extLst>
              <a:ext uri="{FF2B5EF4-FFF2-40B4-BE49-F238E27FC236}">
                <a16:creationId xmlns:a16="http://schemas.microsoft.com/office/drawing/2014/main" id="{0865D635-388C-28C5-A374-DB47EA1D7435}"/>
              </a:ext>
            </a:extLst>
          </p:cNvPr>
          <p:cNvSpPr/>
          <p:nvPr/>
        </p:nvSpPr>
        <p:spPr>
          <a:xfrm>
            <a:off x="786567" y="6104533"/>
            <a:ext cx="1077200" cy="154000"/>
          </a:xfrm>
          <a:prstGeom prst="rect">
            <a:avLst/>
          </a:prstGeom>
          <a:solidFill>
            <a:srgbClr val="232830"/>
          </a:solidFill>
          <a:ln w="9525" cap="flat" cmpd="sng">
            <a:solidFill>
              <a:srgbClr val="23283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Montserrat"/>
              <a:ea typeface="Montserrat"/>
              <a:cs typeface="Montserrat"/>
              <a:sym typeface="Montserrat"/>
            </a:endParaRPr>
          </a:p>
        </p:txBody>
      </p:sp>
      <p:sp>
        <p:nvSpPr>
          <p:cNvPr id="111" name="Google Shape;111;p19">
            <a:extLst>
              <a:ext uri="{FF2B5EF4-FFF2-40B4-BE49-F238E27FC236}">
                <a16:creationId xmlns:a16="http://schemas.microsoft.com/office/drawing/2014/main" id="{F6ADE1B9-BB6E-DB9C-2732-DCFA0937EC93}"/>
              </a:ext>
            </a:extLst>
          </p:cNvPr>
          <p:cNvSpPr txBox="1"/>
          <p:nvPr/>
        </p:nvSpPr>
        <p:spPr>
          <a:xfrm>
            <a:off x="786567" y="1799669"/>
            <a:ext cx="10868516" cy="3405434"/>
          </a:xfrm>
          <a:prstGeom prst="rect">
            <a:avLst/>
          </a:prstGeom>
          <a:noFill/>
          <a:ln>
            <a:noFill/>
          </a:ln>
        </p:spPr>
        <p:txBody>
          <a:bodyPr spcFirstLastPara="1" wrap="square" lIns="60967" tIns="60967" rIns="60967" bIns="60967" anchor="t" anchorCtr="0">
            <a:spAutoFit/>
          </a:bodyPr>
          <a:lstStyle/>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Databases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store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and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organize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data.</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SQL is the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language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to manage relational databases.</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Next steps:</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Explore</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database design principles.</a:t>
            </a:r>
          </a:p>
          <a:p>
            <a:pPr marL="359833" marR="0" lvl="0" indent="-342900" algn="l" defTabSz="914400" rtl="0" eaLnBrk="1" fontAlgn="auto" latinLnBrk="0" hangingPunct="1">
              <a:lnSpc>
                <a:spcPct val="200000"/>
              </a:lnSpc>
              <a:spcBef>
                <a:spcPts val="0"/>
              </a:spcBef>
              <a:spcAft>
                <a:spcPts val="0"/>
              </a:spcAft>
              <a:buClr>
                <a:srgbClr val="F7F7F7"/>
              </a:buClr>
              <a:buSzPts val="1600"/>
              <a:buFont typeface="Arial" panose="020B0604020202020204" pitchFamily="34" charset="0"/>
              <a:buChar char="•"/>
              <a:tabLst/>
              <a:defRPr/>
            </a:pP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Practice writing SQL queries on platforms like </a:t>
            </a:r>
            <a:r>
              <a:rPr kumimoji="0" lang="en-US" sz="2133" b="1" i="0" u="none" strike="noStrike" kern="1200" cap="none" spc="0" normalizeH="0" baseline="0" noProof="0" dirty="0" err="1">
                <a:ln>
                  <a:noFill/>
                </a:ln>
                <a:solidFill>
                  <a:srgbClr val="EEFF41"/>
                </a:solidFill>
                <a:effectLst/>
                <a:uLnTx/>
                <a:uFillTx/>
                <a:latin typeface="Montserrat"/>
                <a:ea typeface="Montserrat"/>
                <a:cs typeface="Montserrat"/>
                <a:sym typeface="Montserrat"/>
              </a:rPr>
              <a:t>SQLZoo</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 or </a:t>
            </a:r>
            <a:r>
              <a:rPr kumimoji="0" lang="en-US" sz="2133" b="1" i="0" u="none" strike="noStrike" kern="1200" cap="none" spc="0" normalizeH="0" baseline="0" noProof="0" dirty="0">
                <a:ln>
                  <a:noFill/>
                </a:ln>
                <a:solidFill>
                  <a:srgbClr val="EEFF41"/>
                </a:solidFill>
                <a:effectLst/>
                <a:uLnTx/>
                <a:uFillTx/>
                <a:latin typeface="Montserrat"/>
                <a:ea typeface="Montserrat"/>
                <a:cs typeface="Montserrat"/>
                <a:sym typeface="Montserrat"/>
              </a:rPr>
              <a:t>W3Schools</a:t>
            </a:r>
            <a:r>
              <a:rPr kumimoji="0" lang="en-US" sz="2133" b="1" i="0" u="none" strike="noStrike" kern="1200" cap="none" spc="0" normalizeH="0" baseline="0" noProof="0" dirty="0">
                <a:ln>
                  <a:noFill/>
                </a:ln>
                <a:solidFill>
                  <a:prstClr val="white"/>
                </a:solidFill>
                <a:effectLst/>
                <a:uLnTx/>
                <a:uFillTx/>
                <a:latin typeface="Montserrat"/>
                <a:ea typeface="Montserrat"/>
                <a:cs typeface="Montserrat"/>
                <a:sym typeface="Montserrat"/>
              </a:rPr>
              <a:t>.</a:t>
            </a:r>
            <a:endParaRPr kumimoji="0" sz="2130" b="1" i="0" u="none" strike="noStrike" kern="1200" cap="none" spc="0" normalizeH="0" baseline="0" noProof="0" dirty="0">
              <a:ln>
                <a:noFill/>
              </a:ln>
              <a:solidFill>
                <a:srgbClr val="FFFFFF"/>
              </a:solidFill>
              <a:effectLst/>
              <a:uLnTx/>
              <a:uFillTx/>
              <a:latin typeface="Montserrat" panose="00000500000000000000" pitchFamily="2" charset="0"/>
              <a:ea typeface="Montserrat"/>
              <a:cs typeface="Montserrat"/>
              <a:sym typeface="Montserrat"/>
            </a:endParaRPr>
          </a:p>
        </p:txBody>
      </p:sp>
      <p:sp>
        <p:nvSpPr>
          <p:cNvPr id="112" name="Google Shape;112;p19">
            <a:extLst>
              <a:ext uri="{FF2B5EF4-FFF2-40B4-BE49-F238E27FC236}">
                <a16:creationId xmlns:a16="http://schemas.microsoft.com/office/drawing/2014/main" id="{16F15BAF-0F3D-273F-70C0-9D856E039874}"/>
              </a:ext>
            </a:extLst>
          </p:cNvPr>
          <p:cNvSpPr txBox="1"/>
          <p:nvPr/>
        </p:nvSpPr>
        <p:spPr>
          <a:xfrm>
            <a:off x="922167" y="725768"/>
            <a:ext cx="6715762" cy="637097"/>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15000"/>
              </a:lnSpc>
              <a:spcBef>
                <a:spcPts val="0"/>
              </a:spcBef>
              <a:spcAft>
                <a:spcPts val="0"/>
              </a:spcAft>
              <a:buClr>
                <a:prstClr val="black"/>
              </a:buClr>
              <a:buSzPts val="2800"/>
              <a:buFontTx/>
              <a:buNone/>
              <a:tabLst/>
              <a:defRPr/>
            </a:pPr>
            <a:r>
              <a:rPr lang="en-US" sz="3600" b="1" dirty="0">
                <a:solidFill>
                  <a:srgbClr val="FFFFFF"/>
                </a:solidFill>
                <a:latin typeface="Montserrat" panose="00000500000000000000" pitchFamily="2" charset="0"/>
              </a:rPr>
              <a:t>Recap and Next Steps</a:t>
            </a:r>
            <a:endParaRPr kumimoji="0" lang="en-US" sz="3600" b="1"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pic>
        <p:nvPicPr>
          <p:cNvPr id="114" name="Google Shape;114;p19">
            <a:extLst>
              <a:ext uri="{FF2B5EF4-FFF2-40B4-BE49-F238E27FC236}">
                <a16:creationId xmlns:a16="http://schemas.microsoft.com/office/drawing/2014/main" id="{13EB34A0-495B-F2DC-9757-6130F7FFA784}"/>
              </a:ext>
            </a:extLst>
          </p:cNvPr>
          <p:cNvPicPr preferRelativeResize="0"/>
          <p:nvPr/>
        </p:nvPicPr>
        <p:blipFill>
          <a:blip r:embed="rId3">
            <a:alphaModFix/>
          </a:blip>
          <a:stretch>
            <a:fillRect/>
          </a:stretch>
        </p:blipFill>
        <p:spPr>
          <a:xfrm>
            <a:off x="9570336" y="190534"/>
            <a:ext cx="2416469" cy="938033"/>
          </a:xfrm>
          <a:prstGeom prst="rect">
            <a:avLst/>
          </a:prstGeom>
          <a:noFill/>
          <a:ln>
            <a:noFill/>
          </a:ln>
        </p:spPr>
      </p:pic>
      <p:pic>
        <p:nvPicPr>
          <p:cNvPr id="116" name="Google Shape;116;p19">
            <a:extLst>
              <a:ext uri="{FF2B5EF4-FFF2-40B4-BE49-F238E27FC236}">
                <a16:creationId xmlns:a16="http://schemas.microsoft.com/office/drawing/2014/main" id="{2BFD06F8-3CCD-94A8-6B13-BB87625F7935}"/>
              </a:ext>
            </a:extLst>
          </p:cNvPr>
          <p:cNvPicPr preferRelativeResize="0"/>
          <p:nvPr/>
        </p:nvPicPr>
        <p:blipFill rotWithShape="1">
          <a:blip r:embed="rId4">
            <a:alphaModFix/>
          </a:blip>
          <a:srcRect/>
          <a:stretch/>
        </p:blipFill>
        <p:spPr>
          <a:xfrm>
            <a:off x="0" y="-62533"/>
            <a:ext cx="1119467" cy="1619233"/>
          </a:xfrm>
          <a:prstGeom prst="rect">
            <a:avLst/>
          </a:prstGeom>
          <a:noFill/>
          <a:ln>
            <a:noFill/>
          </a:ln>
        </p:spPr>
      </p:pic>
      <p:pic>
        <p:nvPicPr>
          <p:cNvPr id="2" name="Google Shape;99;p17">
            <a:extLst>
              <a:ext uri="{FF2B5EF4-FFF2-40B4-BE49-F238E27FC236}">
                <a16:creationId xmlns:a16="http://schemas.microsoft.com/office/drawing/2014/main" id="{E799245E-0B10-5FEF-7CBD-05C905AAF442}"/>
              </a:ext>
            </a:extLst>
          </p:cNvPr>
          <p:cNvPicPr preferRelativeResize="0"/>
          <p:nvPr/>
        </p:nvPicPr>
        <p:blipFill rotWithShape="1">
          <a:blip r:embed="rId5">
            <a:alphaModFix/>
          </a:blip>
          <a:srcRect/>
          <a:stretch/>
        </p:blipFill>
        <p:spPr>
          <a:xfrm>
            <a:off x="6368312" y="725768"/>
            <a:ext cx="376267" cy="569200"/>
          </a:xfrm>
          <a:prstGeom prst="rect">
            <a:avLst/>
          </a:prstGeom>
          <a:noFill/>
          <a:ln>
            <a:noFill/>
          </a:ln>
        </p:spPr>
      </p:pic>
    </p:spTree>
    <p:extLst>
      <p:ext uri="{BB962C8B-B14F-4D97-AF65-F5344CB8AC3E}">
        <p14:creationId xmlns:p14="http://schemas.microsoft.com/office/powerpoint/2010/main" val="1071097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95">
          <a:extLst>
            <a:ext uri="{FF2B5EF4-FFF2-40B4-BE49-F238E27FC236}">
              <a16:creationId xmlns:a16="http://schemas.microsoft.com/office/drawing/2014/main" id="{F8F82C93-E1F2-6F65-92E1-4EB37C0E9884}"/>
            </a:ext>
          </a:extLst>
        </p:cNvPr>
        <p:cNvGrpSpPr/>
        <p:nvPr/>
      </p:nvGrpSpPr>
      <p:grpSpPr>
        <a:xfrm>
          <a:off x="0" y="0"/>
          <a:ext cx="0" cy="0"/>
          <a:chOff x="0" y="0"/>
          <a:chExt cx="0" cy="0"/>
        </a:xfrm>
      </p:grpSpPr>
      <p:pic>
        <p:nvPicPr>
          <p:cNvPr id="96" name="Google Shape;96;p17">
            <a:extLst>
              <a:ext uri="{FF2B5EF4-FFF2-40B4-BE49-F238E27FC236}">
                <a16:creationId xmlns:a16="http://schemas.microsoft.com/office/drawing/2014/main" id="{B25984D1-693A-3904-F5C6-D5B5229C533E}"/>
              </a:ext>
            </a:extLst>
          </p:cNvPr>
          <p:cNvPicPr preferRelativeResize="0"/>
          <p:nvPr/>
        </p:nvPicPr>
        <p:blipFill rotWithShape="1">
          <a:blip r:embed="rId4">
            <a:alphaModFix/>
          </a:blip>
          <a:srcRect/>
          <a:stretch/>
        </p:blipFill>
        <p:spPr>
          <a:xfrm>
            <a:off x="0" y="-62533"/>
            <a:ext cx="1119467" cy="1619233"/>
          </a:xfrm>
          <a:prstGeom prst="rect">
            <a:avLst/>
          </a:prstGeom>
          <a:noFill/>
          <a:ln>
            <a:noFill/>
          </a:ln>
        </p:spPr>
      </p:pic>
      <p:sp>
        <p:nvSpPr>
          <p:cNvPr id="97" name="Google Shape;97;p17">
            <a:extLst>
              <a:ext uri="{FF2B5EF4-FFF2-40B4-BE49-F238E27FC236}">
                <a16:creationId xmlns:a16="http://schemas.microsoft.com/office/drawing/2014/main" id="{A48FBE12-69A8-8B04-94E9-EE5BB92A2C4A}"/>
              </a:ext>
            </a:extLst>
          </p:cNvPr>
          <p:cNvSpPr txBox="1"/>
          <p:nvPr/>
        </p:nvSpPr>
        <p:spPr>
          <a:xfrm>
            <a:off x="1119467" y="3028801"/>
            <a:ext cx="10065600" cy="883278"/>
          </a:xfrm>
          <a:prstGeom prst="rect">
            <a:avLst/>
          </a:prstGeom>
          <a:noFill/>
          <a:ln>
            <a:noFill/>
          </a:ln>
        </p:spPr>
        <p:txBody>
          <a:bodyPr spcFirstLastPara="1" wrap="square" lIns="121900" tIns="121900" rIns="121900" bIns="121900" anchor="t" anchorCtr="0">
            <a:spAutoFit/>
          </a:bodyPr>
          <a:lstStyle/>
          <a:p>
            <a:pPr lvl="0" algn="ctr">
              <a:lnSpc>
                <a:spcPct val="115000"/>
              </a:lnSpc>
              <a:buClr>
                <a:prstClr val="black"/>
              </a:buClr>
              <a:buSzPts val="2800"/>
            </a:pPr>
            <a:r>
              <a:rPr lang="en-US" sz="3600" dirty="0">
                <a:solidFill>
                  <a:srgbClr val="FFFFFF"/>
                </a:solidFill>
                <a:latin typeface="Montserrat" panose="00000500000000000000" pitchFamily="2" charset="0"/>
              </a:rPr>
              <a:t>Q&amp;A</a:t>
            </a:r>
            <a:endParaRPr kumimoji="0" sz="3600" b="0" i="0" u="none" strike="noStrike" kern="1200" cap="none" spc="0" normalizeH="0" baseline="0" noProof="0" dirty="0">
              <a:ln>
                <a:noFill/>
              </a:ln>
              <a:solidFill>
                <a:srgbClr val="FFFFFF"/>
              </a:solidFill>
              <a:effectLst/>
              <a:uLnTx/>
              <a:uFillTx/>
              <a:latin typeface="Montserrat" panose="00000500000000000000" pitchFamily="2" charset="0"/>
              <a:ea typeface="Montserrat Medium"/>
              <a:cs typeface="Montserrat Medium"/>
              <a:sym typeface="Montserrat Medium"/>
            </a:endParaRPr>
          </a:p>
        </p:txBody>
      </p:sp>
      <p:sp>
        <p:nvSpPr>
          <p:cNvPr id="98" name="Google Shape;98;p17">
            <a:extLst>
              <a:ext uri="{FF2B5EF4-FFF2-40B4-BE49-F238E27FC236}">
                <a16:creationId xmlns:a16="http://schemas.microsoft.com/office/drawing/2014/main" id="{6D4787D7-C889-65F2-6317-2140484B8AA3}"/>
              </a:ext>
            </a:extLst>
          </p:cNvPr>
          <p:cNvSpPr txBox="1">
            <a:spLocks noGrp="1"/>
          </p:cNvSpPr>
          <p:nvPr>
            <p:ph type="title" idx="4294967295"/>
          </p:nvPr>
        </p:nvSpPr>
        <p:spPr>
          <a:xfrm>
            <a:off x="748733" y="602167"/>
            <a:ext cx="9502000" cy="763600"/>
          </a:xfrm>
          <a:prstGeom prst="rect">
            <a:avLst/>
          </a:prstGeom>
          <a:noFill/>
          <a:ln>
            <a:noFill/>
          </a:ln>
        </p:spPr>
        <p:txBody>
          <a:bodyPr spcFirstLastPara="1" vert="horz" wrap="square" lIns="121900" tIns="121900" rIns="121900" bIns="121900" rtlCol="0" anchor="t" anchorCtr="0">
            <a:noAutofit/>
          </a:bodyPr>
          <a:lstStyle/>
          <a:p>
            <a:pPr>
              <a:lnSpc>
                <a:spcPct val="115000"/>
              </a:lnSpc>
              <a:spcBef>
                <a:spcPts val="0"/>
              </a:spcBef>
              <a:buSzPts val="990"/>
            </a:pPr>
            <a:r>
              <a:rPr lang="en-US" sz="3600" b="1" dirty="0">
                <a:solidFill>
                  <a:schemeClr val="lt1"/>
                </a:solidFill>
                <a:latin typeface="Montserrat"/>
                <a:ea typeface="Montserrat"/>
                <a:cs typeface="Montserrat"/>
                <a:sym typeface="Montserrat"/>
              </a:rPr>
              <a:t>Database</a:t>
            </a:r>
            <a:endParaRPr sz="3600" b="1" dirty="0">
              <a:solidFill>
                <a:schemeClr val="lt1"/>
              </a:solidFill>
              <a:latin typeface="Montserrat"/>
              <a:ea typeface="Montserrat"/>
              <a:cs typeface="Montserrat"/>
              <a:sym typeface="Montserrat"/>
            </a:endParaRPr>
          </a:p>
        </p:txBody>
      </p:sp>
      <p:pic>
        <p:nvPicPr>
          <p:cNvPr id="99" name="Google Shape;99;p17">
            <a:extLst>
              <a:ext uri="{FF2B5EF4-FFF2-40B4-BE49-F238E27FC236}">
                <a16:creationId xmlns:a16="http://schemas.microsoft.com/office/drawing/2014/main" id="{17CE9D52-7C94-E77A-DCBB-9232883BD722}"/>
              </a:ext>
            </a:extLst>
          </p:cNvPr>
          <p:cNvPicPr preferRelativeResize="0"/>
          <p:nvPr/>
        </p:nvPicPr>
        <p:blipFill rotWithShape="1">
          <a:blip r:embed="rId5">
            <a:alphaModFix/>
          </a:blip>
          <a:srcRect/>
          <a:stretch/>
        </p:blipFill>
        <p:spPr>
          <a:xfrm>
            <a:off x="4857547" y="699367"/>
            <a:ext cx="376267" cy="569200"/>
          </a:xfrm>
          <a:prstGeom prst="rect">
            <a:avLst/>
          </a:prstGeom>
          <a:noFill/>
          <a:ln>
            <a:noFill/>
          </a:ln>
        </p:spPr>
      </p:pic>
    </p:spTree>
    <p:extLst>
      <p:ext uri="{BB962C8B-B14F-4D97-AF65-F5344CB8AC3E}">
        <p14:creationId xmlns:p14="http://schemas.microsoft.com/office/powerpoint/2010/main" val="177980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751</Words>
  <Application>Microsoft Office PowerPoint</Application>
  <PresentationFormat>Широкоэкранный</PresentationFormat>
  <Paragraphs>58</Paragraphs>
  <Slides>8</Slides>
  <Notes>8</Notes>
  <HiddenSlides>0</HiddenSlides>
  <MMClips>0</MMClips>
  <ScaleCrop>false</ScaleCrop>
  <HeadingPairs>
    <vt:vector size="6" baseType="variant">
      <vt:variant>
        <vt:lpstr>Использованные шрифты</vt:lpstr>
      </vt:variant>
      <vt:variant>
        <vt:i4>8</vt:i4>
      </vt:variant>
      <vt:variant>
        <vt:lpstr>Тема</vt:lpstr>
      </vt:variant>
      <vt:variant>
        <vt:i4>1</vt:i4>
      </vt:variant>
      <vt:variant>
        <vt:lpstr>Заголовки слайдов</vt:lpstr>
      </vt:variant>
      <vt:variant>
        <vt:i4>8</vt:i4>
      </vt:variant>
    </vt:vector>
  </HeadingPairs>
  <TitlesOfParts>
    <vt:vector size="17" baseType="lpstr">
      <vt:lpstr>Aptos</vt:lpstr>
      <vt:lpstr>Aptos Display</vt:lpstr>
      <vt:lpstr>Arial</vt:lpstr>
      <vt:lpstr>Helvetica Neue</vt:lpstr>
      <vt:lpstr>Montserrat</vt:lpstr>
      <vt:lpstr>Montserrat ExtraBold</vt:lpstr>
      <vt:lpstr>Montserrat Medium</vt:lpstr>
      <vt:lpstr>Montserrat SemiBold</vt:lpstr>
      <vt:lpstr>1_Тема Office</vt:lpstr>
      <vt:lpstr>Презентация PowerPoint</vt:lpstr>
      <vt:lpstr>Database</vt:lpstr>
      <vt:lpstr>Презентация PowerPoint</vt:lpstr>
      <vt:lpstr>Презентация PowerPoint</vt:lpstr>
      <vt:lpstr>Презентация PowerPoint</vt:lpstr>
      <vt:lpstr>Презентация PowerPoint</vt:lpstr>
      <vt:lpstr>Презентация PowerPoint</vt:lpstr>
      <vt:lpstr>Database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хуилия хуимя</dc:creator>
  <cp:lastModifiedBy>хуилия хуимя</cp:lastModifiedBy>
  <cp:revision>1</cp:revision>
  <dcterms:created xsi:type="dcterms:W3CDTF">2025-01-09T12:19:52Z</dcterms:created>
  <dcterms:modified xsi:type="dcterms:W3CDTF">2025-01-09T12:45:18Z</dcterms:modified>
</cp:coreProperties>
</file>